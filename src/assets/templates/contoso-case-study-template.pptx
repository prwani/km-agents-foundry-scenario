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otected:s1:logo-mark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F4B942"/>
          </a:solidFill>
          <a:ln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rotected:s1:logo-initials"/>
          <p:cNvSpPr txBox="1"/>
          <p:nvPr/>
        </p:nvSpPr>
        <p:spPr>
          <a:xfrm>
            <a:off x="585216" y="438912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4" name="protected:s1:logo-wordmark"/>
          <p:cNvSpPr txBox="1"/>
          <p:nvPr/>
        </p:nvSpPr>
        <p:spPr>
          <a:xfrm>
            <a:off x="1024128" y="39319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 Display"/>
              </a:rPr>
              <a:t>CONTOSO LIMITED</a:t>
            </a:r>
          </a:p>
        </p:txBody>
      </p:sp>
      <p:sp>
        <p:nvSpPr>
          <p:cNvPr id="5" name="protected:s1:accent-panel"/>
          <p:cNvSpPr/>
          <p:nvPr/>
        </p:nvSpPr>
        <p:spPr>
          <a:xfrm>
            <a:off x="8823960" y="0"/>
            <a:ext cx="3367735" cy="685800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rotected:s1:accent-orbit-1"/>
          <p:cNvSpPr/>
          <p:nvPr/>
        </p:nvSpPr>
        <p:spPr>
          <a:xfrm>
            <a:off x="9372600" y="1234440"/>
            <a:ext cx="1417320" cy="1417320"/>
          </a:xfrm>
          <a:prstGeom prst="ellipse">
            <a:avLst/>
          </a:prstGeom>
          <a:solidFill>
            <a:srgbClr val="F4B942"/>
          </a:solidFill>
          <a:ln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tected:s1:accent-orbit-2"/>
          <p:cNvSpPr/>
          <p:nvPr/>
        </p:nvSpPr>
        <p:spPr>
          <a:xfrm>
            <a:off x="10222992" y="3840480"/>
            <a:ext cx="713232" cy="71323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:s1:customer-name"/>
          <p:cNvSpPr txBox="1"/>
          <p:nvPr/>
        </p:nvSpPr>
        <p:spPr>
          <a:xfrm>
            <a:off x="685800" y="1417320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B942"/>
                </a:solidFill>
                <a:latin typeface="Aptos"/>
              </a:rPr>
              <a:t>{{CUSTOMER_NAME}}</a:t>
            </a:r>
          </a:p>
        </p:txBody>
      </p:sp>
      <p:sp>
        <p:nvSpPr>
          <p:cNvPr id="9" name="editable:s1:title"/>
          <p:cNvSpPr txBox="1"/>
          <p:nvPr/>
        </p:nvSpPr>
        <p:spPr>
          <a:xfrm>
            <a:off x="685800" y="1938528"/>
            <a:ext cx="74523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 Display"/>
              </a:rPr>
              <a:t>{{TITLE}}</a:t>
            </a:r>
          </a:p>
        </p:txBody>
      </p:sp>
      <p:sp>
        <p:nvSpPr>
          <p:cNvPr id="10" name="editable:s1:subtitle"/>
          <p:cNvSpPr txBox="1"/>
          <p:nvPr/>
        </p:nvSpPr>
        <p:spPr>
          <a:xfrm>
            <a:off x="685800" y="3502152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AD7E3"/>
                </a:solidFill>
                <a:latin typeface="Aptos"/>
              </a:rPr>
              <a:t>A synthetic customer success story</a:t>
            </a:r>
          </a:p>
        </p:txBody>
      </p:sp>
      <p:sp>
        <p:nvSpPr>
          <p:cNvPr id="11" name="protected:s1:confidentiality"/>
          <p:cNvSpPr txBox="1"/>
          <p:nvPr/>
        </p:nvSpPr>
        <p:spPr>
          <a:xfrm>
            <a:off x="502920" y="6473952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SYNTHETIC DEMO • CONTOSO LIMITED</a:t>
            </a:r>
          </a:p>
        </p:txBody>
      </p:sp>
      <p:sp>
        <p:nvSpPr>
          <p:cNvPr id="12" name="protected:s1:slide-number"/>
          <p:cNvSpPr txBox="1"/>
          <p:nvPr/>
        </p:nvSpPr>
        <p:spPr>
          <a:xfrm>
            <a:off x="11155680" y="6437376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otected:s2:logo-mark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rotected:s2:logo-initials"/>
          <p:cNvSpPr txBox="1"/>
          <p:nvPr/>
        </p:nvSpPr>
        <p:spPr>
          <a:xfrm>
            <a:off x="585216" y="438912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4" name="protected:s2:logo-wordmark"/>
          <p:cNvSpPr txBox="1"/>
          <p:nvPr/>
        </p:nvSpPr>
        <p:spPr>
          <a:xfrm>
            <a:off x="1024128" y="39319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Aptos Display"/>
              </a:rPr>
              <a:t>CONTOSO LIMITED</a:t>
            </a:r>
          </a:p>
        </p:txBody>
      </p:sp>
      <p:sp>
        <p:nvSpPr>
          <p:cNvPr id="5" name="protected:s2:title"/>
          <p:cNvSpPr txBox="1"/>
          <p:nvPr/>
        </p:nvSpPr>
        <p:spPr>
          <a:xfrm>
            <a:off x="594360" y="9875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7324D"/>
                </a:solidFill>
                <a:latin typeface="Aptos Display"/>
              </a:rPr>
              <a:t>The customer challenge</a:t>
            </a:r>
          </a:p>
        </p:txBody>
      </p:sp>
      <p:sp>
        <p:nvSpPr>
          <p:cNvPr id="6" name="protected:s2:confidentiality"/>
          <p:cNvSpPr txBox="1"/>
          <p:nvPr/>
        </p:nvSpPr>
        <p:spPr>
          <a:xfrm>
            <a:off x="502920" y="6473952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07386"/>
                </a:solidFill>
                <a:latin typeface="Aptos"/>
              </a:rPr>
              <a:t>SYNTHETIC DEMO • CONTOSO LIMITED</a:t>
            </a:r>
          </a:p>
        </p:txBody>
      </p:sp>
      <p:sp>
        <p:nvSpPr>
          <p:cNvPr id="7" name="protected:s2:slide-number"/>
          <p:cNvSpPr txBox="1"/>
          <p:nvPr/>
        </p:nvSpPr>
        <p:spPr>
          <a:xfrm>
            <a:off x="11155680" y="6437376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07386"/>
                </a:solidFill>
                <a:latin typeface="Aptos"/>
              </a:rPr>
              <a:t>02</a:t>
            </a:r>
          </a:p>
        </p:txBody>
      </p:sp>
      <p:sp>
        <p:nvSpPr>
          <p:cNvPr id="8" name="protected:s2:challenge-card"/>
          <p:cNvSpPr/>
          <p:nvPr/>
        </p:nvSpPr>
        <p:spPr>
          <a:xfrm>
            <a:off x="640080" y="1783080"/>
            <a:ext cx="65379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rotected:s2:context-panel"/>
          <p:cNvSpPr/>
          <p:nvPr/>
        </p:nvSpPr>
        <p:spPr>
          <a:xfrm>
            <a:off x="7543800" y="1783080"/>
            <a:ext cx="3977639" cy="4114800"/>
          </a:xfrm>
          <a:prstGeom prst="round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tected:s2:challenge-label"/>
          <p:cNvSpPr txBox="1"/>
          <p:nvPr/>
        </p:nvSpPr>
        <p:spPr>
          <a:xfrm>
            <a:off x="960120" y="224028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THE CHALLENGE</a:t>
            </a:r>
          </a:p>
        </p:txBody>
      </p:sp>
      <p:sp>
        <p:nvSpPr>
          <p:cNvPr id="11" name="editable:s2:challenge"/>
          <p:cNvSpPr txBox="1"/>
          <p:nvPr/>
        </p:nvSpPr>
        <p:spPr>
          <a:xfrm>
            <a:off x="960120" y="2743200"/>
            <a:ext cx="5897880" cy="2240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1C2733"/>
                </a:solidFill>
                <a:latin typeface="Aptos"/>
              </a:rPr>
              <a:t>{{CHALLENGE}}</a:t>
            </a:r>
          </a:p>
        </p:txBody>
      </p:sp>
      <p:sp>
        <p:nvSpPr>
          <p:cNvPr id="12" name="protected:s2:context-label"/>
          <p:cNvSpPr txBox="1"/>
          <p:nvPr/>
        </p:nvSpPr>
        <p:spPr>
          <a:xfrm>
            <a:off x="7955279" y="224028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4B942"/>
                </a:solidFill>
                <a:latin typeface="Aptos"/>
              </a:rPr>
              <a:t>WHY NOW</a:t>
            </a:r>
          </a:p>
        </p:txBody>
      </p:sp>
      <p:sp>
        <p:nvSpPr>
          <p:cNvPr id="13" name="editable:s2:context"/>
          <p:cNvSpPr txBox="1"/>
          <p:nvPr/>
        </p:nvSpPr>
        <p:spPr>
          <a:xfrm>
            <a:off x="7955279" y="2743200"/>
            <a:ext cx="29718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{{OPPORTUNITY_CONTEXT}}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otected:s3:logo-mark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rotected:s3:logo-initials"/>
          <p:cNvSpPr txBox="1"/>
          <p:nvPr/>
        </p:nvSpPr>
        <p:spPr>
          <a:xfrm>
            <a:off x="585216" y="438912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4" name="protected:s3:logo-wordmark"/>
          <p:cNvSpPr txBox="1"/>
          <p:nvPr/>
        </p:nvSpPr>
        <p:spPr>
          <a:xfrm>
            <a:off x="1024128" y="39319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Aptos Display"/>
              </a:rPr>
              <a:t>CONTOSO LIMITED</a:t>
            </a:r>
          </a:p>
        </p:txBody>
      </p:sp>
      <p:sp>
        <p:nvSpPr>
          <p:cNvPr id="5" name="protected:s3:title"/>
          <p:cNvSpPr txBox="1"/>
          <p:nvPr/>
        </p:nvSpPr>
        <p:spPr>
          <a:xfrm>
            <a:off x="594360" y="9875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7324D"/>
                </a:solidFill>
                <a:latin typeface="Aptos Display"/>
              </a:rPr>
              <a:t>Solution overview</a:t>
            </a:r>
          </a:p>
        </p:txBody>
      </p:sp>
      <p:sp>
        <p:nvSpPr>
          <p:cNvPr id="6" name="protected:s3:confidentiality"/>
          <p:cNvSpPr txBox="1"/>
          <p:nvPr/>
        </p:nvSpPr>
        <p:spPr>
          <a:xfrm>
            <a:off x="502920" y="6473952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07386"/>
                </a:solidFill>
                <a:latin typeface="Aptos"/>
              </a:rPr>
              <a:t>SYNTHETIC DEMO • CONTOSO LIMITED</a:t>
            </a:r>
          </a:p>
        </p:txBody>
      </p:sp>
      <p:sp>
        <p:nvSpPr>
          <p:cNvPr id="7" name="protected:s3:slide-number"/>
          <p:cNvSpPr txBox="1"/>
          <p:nvPr/>
        </p:nvSpPr>
        <p:spPr>
          <a:xfrm>
            <a:off x="11155680" y="6437376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07386"/>
                </a:solidFill>
                <a:latin typeface="Aptos"/>
              </a:rPr>
              <a:t>03</a:t>
            </a:r>
          </a:p>
        </p:txBody>
      </p:sp>
      <p:sp>
        <p:nvSpPr>
          <p:cNvPr id="8" name="editable:s3:solution"/>
          <p:cNvSpPr txBox="1"/>
          <p:nvPr/>
        </p:nvSpPr>
        <p:spPr>
          <a:xfrm>
            <a:off x="685800" y="2084831"/>
            <a:ext cx="4754880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1C2733"/>
                </a:solidFill>
                <a:latin typeface="Aptos"/>
              </a:rPr>
              <a:t>{{SOLUTION_OVERVIEW}}</a:t>
            </a:r>
          </a:p>
        </p:txBody>
      </p:sp>
      <p:sp>
        <p:nvSpPr>
          <p:cNvPr id="9" name="protected:s3:step-1"/>
          <p:cNvSpPr/>
          <p:nvPr/>
        </p:nvSpPr>
        <p:spPr>
          <a:xfrm>
            <a:off x="5852160" y="2057400"/>
            <a:ext cx="1143000" cy="1143000"/>
          </a:xfrm>
          <a:prstGeom prst="ellipse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tected:s3:step-icon-1"/>
          <p:cNvSpPr txBox="1"/>
          <p:nvPr/>
        </p:nvSpPr>
        <p:spPr>
          <a:xfrm>
            <a:off x="6163056" y="2414016"/>
            <a:ext cx="512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protected:s3:step-label-1"/>
          <p:cNvSpPr txBox="1"/>
          <p:nvPr/>
        </p:nvSpPr>
        <p:spPr>
          <a:xfrm>
            <a:off x="5715000" y="34015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7324D"/>
                </a:solidFill>
                <a:latin typeface="Aptos"/>
              </a:rPr>
              <a:t>DISCOVER</a:t>
            </a:r>
          </a:p>
        </p:txBody>
      </p:sp>
      <p:sp>
        <p:nvSpPr>
          <p:cNvPr id="12" name="protected:s3:step-2"/>
          <p:cNvSpPr/>
          <p:nvPr/>
        </p:nvSpPr>
        <p:spPr>
          <a:xfrm>
            <a:off x="7726679" y="2057400"/>
            <a:ext cx="1143000" cy="114300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tected:s3:step-icon-2"/>
          <p:cNvSpPr txBox="1"/>
          <p:nvPr/>
        </p:nvSpPr>
        <p:spPr>
          <a:xfrm>
            <a:off x="8037575" y="2414016"/>
            <a:ext cx="512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protected:s3:step-label-2"/>
          <p:cNvSpPr txBox="1"/>
          <p:nvPr/>
        </p:nvSpPr>
        <p:spPr>
          <a:xfrm>
            <a:off x="7589519" y="34015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7324D"/>
                </a:solidFill>
                <a:latin typeface="Aptos"/>
              </a:rPr>
              <a:t>DESIGN</a:t>
            </a:r>
          </a:p>
        </p:txBody>
      </p:sp>
      <p:sp>
        <p:nvSpPr>
          <p:cNvPr id="15" name="protected:s3:step-3"/>
          <p:cNvSpPr/>
          <p:nvPr/>
        </p:nvSpPr>
        <p:spPr>
          <a:xfrm>
            <a:off x="9601200" y="2057400"/>
            <a:ext cx="1143000" cy="1143000"/>
          </a:xfrm>
          <a:prstGeom prst="ellipse">
            <a:avLst/>
          </a:prstGeom>
          <a:solidFill>
            <a:srgbClr val="F4B942"/>
          </a:solidFill>
          <a:ln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otected:s3:step-icon-3"/>
          <p:cNvSpPr txBox="1"/>
          <p:nvPr/>
        </p:nvSpPr>
        <p:spPr>
          <a:xfrm>
            <a:off x="9912096" y="2414016"/>
            <a:ext cx="512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7324D"/>
                </a:solidFill>
                <a:latin typeface="Aptos"/>
              </a:rPr>
              <a:t>3</a:t>
            </a:r>
          </a:p>
        </p:txBody>
      </p:sp>
      <p:sp>
        <p:nvSpPr>
          <p:cNvPr id="17" name="protected:s3:step-label-3"/>
          <p:cNvSpPr txBox="1"/>
          <p:nvPr/>
        </p:nvSpPr>
        <p:spPr>
          <a:xfrm>
            <a:off x="9464040" y="34015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7324D"/>
                </a:solidFill>
                <a:latin typeface="Aptos"/>
              </a:rPr>
              <a:t>DELIVER</a:t>
            </a:r>
          </a:p>
        </p:txBody>
      </p:sp>
      <p:sp>
        <p:nvSpPr>
          <p:cNvPr id="18" name="editable:s3:solution-pillars"/>
          <p:cNvSpPr txBox="1"/>
          <p:nvPr/>
        </p:nvSpPr>
        <p:spPr>
          <a:xfrm>
            <a:off x="5806440" y="4069080"/>
            <a:ext cx="5257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607386"/>
                </a:solidFill>
                <a:latin typeface="Aptos"/>
              </a:rPr>
              <a:t>{{SOLUTION_PILLARS}}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otected:s4:logo-mark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rotected:s4:logo-initials"/>
          <p:cNvSpPr txBox="1"/>
          <p:nvPr/>
        </p:nvSpPr>
        <p:spPr>
          <a:xfrm>
            <a:off x="585216" y="438912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4" name="protected:s4:logo-wordmark"/>
          <p:cNvSpPr txBox="1"/>
          <p:nvPr/>
        </p:nvSpPr>
        <p:spPr>
          <a:xfrm>
            <a:off x="1024128" y="39319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Aptos Display"/>
              </a:rPr>
              <a:t>CONTOSO LIMITED</a:t>
            </a:r>
          </a:p>
        </p:txBody>
      </p:sp>
      <p:sp>
        <p:nvSpPr>
          <p:cNvPr id="5" name="protected:s4:title"/>
          <p:cNvSpPr txBox="1"/>
          <p:nvPr/>
        </p:nvSpPr>
        <p:spPr>
          <a:xfrm>
            <a:off x="594360" y="9875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7324D"/>
                </a:solidFill>
                <a:latin typeface="Aptos Display"/>
              </a:rPr>
              <a:t>Architecture</a:t>
            </a:r>
          </a:p>
        </p:txBody>
      </p:sp>
      <p:sp>
        <p:nvSpPr>
          <p:cNvPr id="6" name="protected:s4:confidentiality"/>
          <p:cNvSpPr txBox="1"/>
          <p:nvPr/>
        </p:nvSpPr>
        <p:spPr>
          <a:xfrm>
            <a:off x="502920" y="6473952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07386"/>
                </a:solidFill>
                <a:latin typeface="Aptos"/>
              </a:rPr>
              <a:t>SYNTHETIC DEMO • CONTOSO LIMITED</a:t>
            </a:r>
          </a:p>
        </p:txBody>
      </p:sp>
      <p:sp>
        <p:nvSpPr>
          <p:cNvPr id="7" name="protected:s4:slide-number"/>
          <p:cNvSpPr txBox="1"/>
          <p:nvPr/>
        </p:nvSpPr>
        <p:spPr>
          <a:xfrm>
            <a:off x="11155680" y="6437376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07386"/>
                </a:solidFill>
                <a:latin typeface="Aptos"/>
              </a:rPr>
              <a:t>04</a:t>
            </a:r>
          </a:p>
        </p:txBody>
      </p:sp>
      <p:sp>
        <p:nvSpPr>
          <p:cNvPr id="8" name="protected:s4:architecture-canvas"/>
          <p:cNvSpPr/>
          <p:nvPr/>
        </p:nvSpPr>
        <p:spPr>
          <a:xfrm>
            <a:off x="658368" y="1737360"/>
            <a:ext cx="10863072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rotected:s4:column-1"/>
          <p:cNvSpPr/>
          <p:nvPr/>
        </p:nvSpPr>
        <p:spPr>
          <a:xfrm>
            <a:off x="1005840" y="2240280"/>
            <a:ext cx="2743200" cy="3154680"/>
          </a:xfrm>
          <a:prstGeom prst="roundRect">
            <a:avLst/>
          </a:prstGeom>
          <a:solidFill>
            <a:srgbClr val="F8FAFC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tected:s4:column-label-1"/>
          <p:cNvSpPr txBox="1"/>
          <p:nvPr/>
        </p:nvSpPr>
        <p:spPr>
          <a:xfrm>
            <a:off x="1234440" y="25146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7324D"/>
                </a:solidFill>
                <a:latin typeface="Aptos"/>
              </a:rPr>
              <a:t>EXPERIENCE</a:t>
            </a:r>
          </a:p>
        </p:txBody>
      </p:sp>
      <p:sp>
        <p:nvSpPr>
          <p:cNvPr id="11" name="editable:s4:architecture-column-1"/>
          <p:cNvSpPr txBox="1"/>
          <p:nvPr/>
        </p:nvSpPr>
        <p:spPr>
          <a:xfrm>
            <a:off x="1261872" y="3017520"/>
            <a:ext cx="2231136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C2733"/>
                </a:solidFill>
                <a:latin typeface="Aptos"/>
              </a:rPr>
              <a:t>{{ARCHITECTURE_COLUMN_1}}</a:t>
            </a:r>
          </a:p>
        </p:txBody>
      </p:sp>
      <p:sp>
        <p:nvSpPr>
          <p:cNvPr id="12" name="protected:s4:column-2"/>
          <p:cNvSpPr/>
          <p:nvPr/>
        </p:nvSpPr>
        <p:spPr>
          <a:xfrm>
            <a:off x="4343400" y="2240280"/>
            <a:ext cx="2743200" cy="3154680"/>
          </a:xfrm>
          <a:prstGeom prst="roundRect">
            <a:avLst/>
          </a:prstGeom>
          <a:solidFill>
            <a:srgbClr val="F8FAFC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tected:s4:column-label-2"/>
          <p:cNvSpPr txBox="1"/>
          <p:nvPr/>
        </p:nvSpPr>
        <p:spPr>
          <a:xfrm>
            <a:off x="4572000" y="25146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INTELLIGENCE</a:t>
            </a:r>
          </a:p>
        </p:txBody>
      </p:sp>
      <p:sp>
        <p:nvSpPr>
          <p:cNvPr id="14" name="editable:s4:architecture-column-2"/>
          <p:cNvSpPr txBox="1"/>
          <p:nvPr/>
        </p:nvSpPr>
        <p:spPr>
          <a:xfrm>
            <a:off x="4599432" y="3017520"/>
            <a:ext cx="2231136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C2733"/>
                </a:solidFill>
                <a:latin typeface="Aptos"/>
              </a:rPr>
              <a:t>{{ARCHITECTURE_COLUMN_2}}</a:t>
            </a:r>
          </a:p>
        </p:txBody>
      </p:sp>
      <p:sp>
        <p:nvSpPr>
          <p:cNvPr id="15" name="protected:s4:column-3"/>
          <p:cNvSpPr/>
          <p:nvPr/>
        </p:nvSpPr>
        <p:spPr>
          <a:xfrm>
            <a:off x="7680960" y="2240280"/>
            <a:ext cx="2743200" cy="3154680"/>
          </a:xfrm>
          <a:prstGeom prst="roundRect">
            <a:avLst/>
          </a:prstGeom>
          <a:solidFill>
            <a:srgbClr val="F8FAFC"/>
          </a:solidFill>
          <a:ln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otected:s4:column-label-3"/>
          <p:cNvSpPr txBox="1"/>
          <p:nvPr/>
        </p:nvSpPr>
        <p:spPr>
          <a:xfrm>
            <a:off x="7909560" y="25146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4B942"/>
                </a:solidFill>
                <a:latin typeface="Aptos"/>
              </a:rPr>
              <a:t>DATA &amp; ACTIONS</a:t>
            </a:r>
          </a:p>
        </p:txBody>
      </p:sp>
      <p:sp>
        <p:nvSpPr>
          <p:cNvPr id="17" name="editable:s4:architecture-column-3"/>
          <p:cNvSpPr txBox="1"/>
          <p:nvPr/>
        </p:nvSpPr>
        <p:spPr>
          <a:xfrm>
            <a:off x="7936992" y="3017520"/>
            <a:ext cx="2231136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C2733"/>
                </a:solidFill>
                <a:latin typeface="Aptos"/>
              </a:rPr>
              <a:t>{{ARCHITECTURE_COLUMN_3}}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otected:s5:logo-mark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rotected:s5:logo-initials"/>
          <p:cNvSpPr txBox="1"/>
          <p:nvPr/>
        </p:nvSpPr>
        <p:spPr>
          <a:xfrm>
            <a:off x="585216" y="438912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4" name="protected:s5:logo-wordmark"/>
          <p:cNvSpPr txBox="1"/>
          <p:nvPr/>
        </p:nvSpPr>
        <p:spPr>
          <a:xfrm>
            <a:off x="1024128" y="39319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Aptos Display"/>
              </a:rPr>
              <a:t>CONTOSO LIMITED</a:t>
            </a:r>
          </a:p>
        </p:txBody>
      </p:sp>
      <p:sp>
        <p:nvSpPr>
          <p:cNvPr id="5" name="protected:s5:title"/>
          <p:cNvSpPr txBox="1"/>
          <p:nvPr/>
        </p:nvSpPr>
        <p:spPr>
          <a:xfrm>
            <a:off x="594360" y="9875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7324D"/>
                </a:solidFill>
                <a:latin typeface="Aptos Display"/>
              </a:rPr>
              <a:t>Implementation journey</a:t>
            </a:r>
          </a:p>
        </p:txBody>
      </p:sp>
      <p:sp>
        <p:nvSpPr>
          <p:cNvPr id="6" name="protected:s5:confidentiality"/>
          <p:cNvSpPr txBox="1"/>
          <p:nvPr/>
        </p:nvSpPr>
        <p:spPr>
          <a:xfrm>
            <a:off x="502920" y="6473952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07386"/>
                </a:solidFill>
                <a:latin typeface="Aptos"/>
              </a:rPr>
              <a:t>SYNTHETIC DEMO • CONTOSO LIMITED</a:t>
            </a:r>
          </a:p>
        </p:txBody>
      </p:sp>
      <p:sp>
        <p:nvSpPr>
          <p:cNvPr id="7" name="protected:s5:slide-number"/>
          <p:cNvSpPr txBox="1"/>
          <p:nvPr/>
        </p:nvSpPr>
        <p:spPr>
          <a:xfrm>
            <a:off x="11155680" y="6437376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07386"/>
                </a:solidFill>
                <a:latin typeface="Aptos"/>
              </a:rPr>
              <a:t>05</a:t>
            </a:r>
          </a:p>
        </p:txBody>
      </p:sp>
      <p:sp>
        <p:nvSpPr>
          <p:cNvPr id="8" name="protected:s5:timeline-track"/>
          <p:cNvSpPr/>
          <p:nvPr/>
        </p:nvSpPr>
        <p:spPr>
          <a:xfrm>
            <a:off x="1531620" y="3127248"/>
            <a:ext cx="8229600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rotected:s5:milestone-1"/>
          <p:cNvSpPr/>
          <p:nvPr/>
        </p:nvSpPr>
        <p:spPr>
          <a:xfrm>
            <a:off x="1143000" y="2788920"/>
            <a:ext cx="777240" cy="777240"/>
          </a:xfrm>
          <a:prstGeom prst="ellipse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tected:s5:milestone-number-1"/>
          <p:cNvSpPr txBox="1"/>
          <p:nvPr/>
        </p:nvSpPr>
        <p:spPr>
          <a:xfrm>
            <a:off x="1325880" y="299008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editable:s5:implementation-step-1"/>
          <p:cNvSpPr txBox="1"/>
          <p:nvPr/>
        </p:nvSpPr>
        <p:spPr>
          <a:xfrm>
            <a:off x="640080" y="3886200"/>
            <a:ext cx="1783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C2733"/>
                </a:solidFill>
                <a:latin typeface="Aptos"/>
              </a:rPr>
              <a:t>{{IMPLEMENTATION_STEP_1}}</a:t>
            </a:r>
          </a:p>
        </p:txBody>
      </p:sp>
      <p:sp>
        <p:nvSpPr>
          <p:cNvPr id="12" name="protected:s5:milestone-2"/>
          <p:cNvSpPr/>
          <p:nvPr/>
        </p:nvSpPr>
        <p:spPr>
          <a:xfrm>
            <a:off x="3886200" y="2788920"/>
            <a:ext cx="777240" cy="77724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tected:s5:milestone-number-2"/>
          <p:cNvSpPr txBox="1"/>
          <p:nvPr/>
        </p:nvSpPr>
        <p:spPr>
          <a:xfrm>
            <a:off x="4069080" y="299008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editable:s5:implementation-step-2"/>
          <p:cNvSpPr txBox="1"/>
          <p:nvPr/>
        </p:nvSpPr>
        <p:spPr>
          <a:xfrm>
            <a:off x="3383280" y="3886200"/>
            <a:ext cx="1783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C2733"/>
                </a:solidFill>
                <a:latin typeface="Aptos"/>
              </a:rPr>
              <a:t>{{IMPLEMENTATION_STEP_2}}</a:t>
            </a:r>
          </a:p>
        </p:txBody>
      </p:sp>
      <p:sp>
        <p:nvSpPr>
          <p:cNvPr id="15" name="protected:s5:milestone-3"/>
          <p:cNvSpPr/>
          <p:nvPr/>
        </p:nvSpPr>
        <p:spPr>
          <a:xfrm>
            <a:off x="6629400" y="2788920"/>
            <a:ext cx="777240" cy="777240"/>
          </a:xfrm>
          <a:prstGeom prst="ellipse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otected:s5:milestone-number-3"/>
          <p:cNvSpPr txBox="1"/>
          <p:nvPr/>
        </p:nvSpPr>
        <p:spPr>
          <a:xfrm>
            <a:off x="6812280" y="299008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editable:s5:implementation-step-3"/>
          <p:cNvSpPr txBox="1"/>
          <p:nvPr/>
        </p:nvSpPr>
        <p:spPr>
          <a:xfrm>
            <a:off x="6126480" y="3886200"/>
            <a:ext cx="1783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C2733"/>
                </a:solidFill>
                <a:latin typeface="Aptos"/>
              </a:rPr>
              <a:t>{{IMPLEMENTATION_STEP_3}}</a:t>
            </a:r>
          </a:p>
        </p:txBody>
      </p:sp>
      <p:sp>
        <p:nvSpPr>
          <p:cNvPr id="18" name="protected:s5:milestone-4"/>
          <p:cNvSpPr/>
          <p:nvPr/>
        </p:nvSpPr>
        <p:spPr>
          <a:xfrm>
            <a:off x="9372600" y="2788920"/>
            <a:ext cx="777240" cy="77724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rotected:s5:milestone-number-4"/>
          <p:cNvSpPr txBox="1"/>
          <p:nvPr/>
        </p:nvSpPr>
        <p:spPr>
          <a:xfrm>
            <a:off x="9555480" y="299008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editable:s5:implementation-step-4"/>
          <p:cNvSpPr txBox="1"/>
          <p:nvPr/>
        </p:nvSpPr>
        <p:spPr>
          <a:xfrm>
            <a:off x="8869680" y="3886200"/>
            <a:ext cx="1783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C2733"/>
                </a:solidFill>
                <a:latin typeface="Aptos"/>
              </a:rPr>
              <a:t>{{IMPLEMENTATION_STEP_4}}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otected:s6:logo-mark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rotected:s6:logo-initials"/>
          <p:cNvSpPr txBox="1"/>
          <p:nvPr/>
        </p:nvSpPr>
        <p:spPr>
          <a:xfrm>
            <a:off x="585216" y="438912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4" name="protected:s6:logo-wordmark"/>
          <p:cNvSpPr txBox="1"/>
          <p:nvPr/>
        </p:nvSpPr>
        <p:spPr>
          <a:xfrm>
            <a:off x="1024128" y="39319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Aptos Display"/>
              </a:rPr>
              <a:t>CONTOSO LIMITED</a:t>
            </a:r>
          </a:p>
        </p:txBody>
      </p:sp>
      <p:sp>
        <p:nvSpPr>
          <p:cNvPr id="5" name="protected:s6:title"/>
          <p:cNvSpPr txBox="1"/>
          <p:nvPr/>
        </p:nvSpPr>
        <p:spPr>
          <a:xfrm>
            <a:off x="594360" y="9875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7324D"/>
                </a:solidFill>
                <a:latin typeface="Aptos Display"/>
              </a:rPr>
              <a:t>Measurable outcomes</a:t>
            </a:r>
          </a:p>
        </p:txBody>
      </p:sp>
      <p:sp>
        <p:nvSpPr>
          <p:cNvPr id="6" name="protected:s6:confidentiality"/>
          <p:cNvSpPr txBox="1"/>
          <p:nvPr/>
        </p:nvSpPr>
        <p:spPr>
          <a:xfrm>
            <a:off x="502920" y="6473952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07386"/>
                </a:solidFill>
                <a:latin typeface="Aptos"/>
              </a:rPr>
              <a:t>SYNTHETIC DEMO • CONTOSO LIMITED</a:t>
            </a:r>
          </a:p>
        </p:txBody>
      </p:sp>
      <p:sp>
        <p:nvSpPr>
          <p:cNvPr id="7" name="protected:s6:slide-number"/>
          <p:cNvSpPr txBox="1"/>
          <p:nvPr/>
        </p:nvSpPr>
        <p:spPr>
          <a:xfrm>
            <a:off x="11155680" y="6437376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07386"/>
                </a:solidFill>
                <a:latin typeface="Aptos"/>
              </a:rPr>
              <a:t>06</a:t>
            </a:r>
          </a:p>
        </p:txBody>
      </p:sp>
      <p:sp>
        <p:nvSpPr>
          <p:cNvPr id="8" name="protected:s6:metric-card-1"/>
          <p:cNvSpPr/>
          <p:nvPr/>
        </p:nvSpPr>
        <p:spPr>
          <a:xfrm>
            <a:off x="777240" y="1920240"/>
            <a:ext cx="33375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rotected:s6:metric-icon-1"/>
          <p:cNvSpPr/>
          <p:nvPr/>
        </p:nvSpPr>
        <p:spPr>
          <a:xfrm>
            <a:off x="2011680" y="2331720"/>
            <a:ext cx="868680" cy="868680"/>
          </a:xfrm>
          <a:prstGeom prst="ellipse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tected:s6:metric-number-1"/>
          <p:cNvSpPr txBox="1"/>
          <p:nvPr/>
        </p:nvSpPr>
        <p:spPr>
          <a:xfrm>
            <a:off x="2249424" y="261518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editable:s6:outcome-1"/>
          <p:cNvSpPr txBox="1"/>
          <p:nvPr/>
        </p:nvSpPr>
        <p:spPr>
          <a:xfrm>
            <a:off x="1097280" y="3520440"/>
            <a:ext cx="26974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1C2733"/>
                </a:solidFill>
                <a:latin typeface="Aptos"/>
              </a:rPr>
              <a:t>{{MEASURABLE_OUTCOME_1}}</a:t>
            </a:r>
          </a:p>
        </p:txBody>
      </p:sp>
      <p:sp>
        <p:nvSpPr>
          <p:cNvPr id="12" name="protected:s6:metric-card-2"/>
          <p:cNvSpPr/>
          <p:nvPr/>
        </p:nvSpPr>
        <p:spPr>
          <a:xfrm>
            <a:off x="4526279" y="1920240"/>
            <a:ext cx="33375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tected:s6:metric-icon-2"/>
          <p:cNvSpPr/>
          <p:nvPr/>
        </p:nvSpPr>
        <p:spPr>
          <a:xfrm>
            <a:off x="5760719" y="2331720"/>
            <a:ext cx="868680" cy="86868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otected:s6:metric-number-2"/>
          <p:cNvSpPr txBox="1"/>
          <p:nvPr/>
        </p:nvSpPr>
        <p:spPr>
          <a:xfrm>
            <a:off x="5998464" y="261518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editable:s6:outcome-2"/>
          <p:cNvSpPr txBox="1"/>
          <p:nvPr/>
        </p:nvSpPr>
        <p:spPr>
          <a:xfrm>
            <a:off x="4846319" y="3520440"/>
            <a:ext cx="26974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1C2733"/>
                </a:solidFill>
                <a:latin typeface="Aptos"/>
              </a:rPr>
              <a:t>{{MEASURABLE_OUTCOME_2}}</a:t>
            </a:r>
          </a:p>
        </p:txBody>
      </p:sp>
      <p:sp>
        <p:nvSpPr>
          <p:cNvPr id="16" name="protected:s6:metric-card-3"/>
          <p:cNvSpPr/>
          <p:nvPr/>
        </p:nvSpPr>
        <p:spPr>
          <a:xfrm>
            <a:off x="8275319" y="1920240"/>
            <a:ext cx="33375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rotected:s6:metric-icon-3"/>
          <p:cNvSpPr/>
          <p:nvPr/>
        </p:nvSpPr>
        <p:spPr>
          <a:xfrm>
            <a:off x="9509759" y="2331720"/>
            <a:ext cx="868680" cy="868680"/>
          </a:xfrm>
          <a:prstGeom prst="ellipse">
            <a:avLst/>
          </a:prstGeom>
          <a:solidFill>
            <a:srgbClr val="F4B942"/>
          </a:solidFill>
          <a:ln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rotected:s6:metric-number-3"/>
          <p:cNvSpPr txBox="1"/>
          <p:nvPr/>
        </p:nvSpPr>
        <p:spPr>
          <a:xfrm>
            <a:off x="9747503" y="261518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7324D"/>
                </a:solidFill>
                <a:latin typeface="Aptos"/>
              </a:rPr>
              <a:t>3</a:t>
            </a:r>
          </a:p>
        </p:txBody>
      </p:sp>
      <p:sp>
        <p:nvSpPr>
          <p:cNvPr id="19" name="editable:s6:outcome-3"/>
          <p:cNvSpPr txBox="1"/>
          <p:nvPr/>
        </p:nvSpPr>
        <p:spPr>
          <a:xfrm>
            <a:off x="8595359" y="3520440"/>
            <a:ext cx="26974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1C2733"/>
                </a:solidFill>
                <a:latin typeface="Aptos"/>
              </a:rPr>
              <a:t>{{MEASURABLE_OUTCOME_3}}</a:t>
            </a:r>
          </a:p>
        </p:txBody>
      </p:sp>
      <p:sp>
        <p:nvSpPr>
          <p:cNvPr id="20" name="protected:s6:evidence-note"/>
          <p:cNvSpPr txBox="1"/>
          <p:nvPr/>
        </p:nvSpPr>
        <p:spPr>
          <a:xfrm>
            <a:off x="3154680" y="5715000"/>
            <a:ext cx="5897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7386"/>
                </a:solidFill>
                <a:latin typeface="Aptos"/>
              </a:rPr>
              <a:t>Only source-supported outcomes are permitted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6A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otected:s7:logo-mark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F4B942"/>
          </a:solidFill>
          <a:ln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rotected:s7:logo-initials"/>
          <p:cNvSpPr txBox="1"/>
          <p:nvPr/>
        </p:nvSpPr>
        <p:spPr>
          <a:xfrm>
            <a:off x="585216" y="438912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4" name="protected:s7:logo-wordmark"/>
          <p:cNvSpPr txBox="1"/>
          <p:nvPr/>
        </p:nvSpPr>
        <p:spPr>
          <a:xfrm>
            <a:off x="1024128" y="39319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 Display"/>
              </a:rPr>
              <a:t>CONTOSO LIMITED</a:t>
            </a:r>
          </a:p>
        </p:txBody>
      </p:sp>
      <p:sp>
        <p:nvSpPr>
          <p:cNvPr id="5" name="protected:s7:quote-mark"/>
          <p:cNvSpPr txBox="1"/>
          <p:nvPr/>
        </p:nvSpPr>
        <p:spPr>
          <a:xfrm>
            <a:off x="658368" y="1261872"/>
            <a:ext cx="10058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4B942"/>
                </a:solidFill>
                <a:latin typeface="Georgia"/>
              </a:rPr>
              <a:t>“</a:t>
            </a:r>
          </a:p>
        </p:txBody>
      </p:sp>
      <p:sp>
        <p:nvSpPr>
          <p:cNvPr id="6" name="editable:s7:quote"/>
          <p:cNvSpPr txBox="1"/>
          <p:nvPr/>
        </p:nvSpPr>
        <p:spPr>
          <a:xfrm>
            <a:off x="1463040" y="1828800"/>
            <a:ext cx="9738360" cy="2240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Georgia"/>
              </a:rPr>
              <a:t>{{CUSTOMER_QUOTE}}</a:t>
            </a:r>
          </a:p>
        </p:txBody>
      </p:sp>
      <p:sp>
        <p:nvSpPr>
          <p:cNvPr id="7" name="editable:s7:quote-attribution"/>
          <p:cNvSpPr txBox="1"/>
          <p:nvPr/>
        </p:nvSpPr>
        <p:spPr>
          <a:xfrm>
            <a:off x="1508760" y="4572000"/>
            <a:ext cx="9646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D7FFFF"/>
                </a:solidFill>
                <a:latin typeface="Aptos"/>
              </a:rPr>
              <a:t>{{QUOTE_ATTRIBUTION}}</a:t>
            </a:r>
          </a:p>
        </p:txBody>
      </p:sp>
      <p:sp>
        <p:nvSpPr>
          <p:cNvPr id="8" name="protected:s7:confidentiality"/>
          <p:cNvSpPr txBox="1"/>
          <p:nvPr/>
        </p:nvSpPr>
        <p:spPr>
          <a:xfrm>
            <a:off x="502920" y="6473952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SYNTHETIC DEMO • CONTOSO LIMITED</a:t>
            </a:r>
          </a:p>
        </p:txBody>
      </p:sp>
      <p:sp>
        <p:nvSpPr>
          <p:cNvPr id="9" name="protected:s7:slide-number"/>
          <p:cNvSpPr txBox="1"/>
          <p:nvPr/>
        </p:nvSpPr>
        <p:spPr>
          <a:xfrm>
            <a:off x="11155680" y="6437376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otected:s8:logo-mark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F4B942"/>
          </a:solidFill>
          <a:ln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rotected:s8:logo-initials"/>
          <p:cNvSpPr txBox="1"/>
          <p:nvPr/>
        </p:nvSpPr>
        <p:spPr>
          <a:xfrm>
            <a:off x="585216" y="438912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4" name="protected:s8:logo-wordmark"/>
          <p:cNvSpPr txBox="1"/>
          <p:nvPr/>
        </p:nvSpPr>
        <p:spPr>
          <a:xfrm>
            <a:off x="1024128" y="39319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 Display"/>
              </a:rPr>
              <a:t>CONTOSO LIMITED</a:t>
            </a:r>
          </a:p>
        </p:txBody>
      </p:sp>
      <p:sp>
        <p:nvSpPr>
          <p:cNvPr id="5" name="protected:s8:title"/>
          <p:cNvSpPr txBox="1"/>
          <p:nvPr/>
        </p:nvSpPr>
        <p:spPr>
          <a:xfrm>
            <a:off x="685800" y="1115568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 Display"/>
              </a:rPr>
              <a:t>Next steps</a:t>
            </a:r>
          </a:p>
        </p:txBody>
      </p:sp>
      <p:sp>
        <p:nvSpPr>
          <p:cNvPr id="6" name="editable:s8:next-steps"/>
          <p:cNvSpPr txBox="1"/>
          <p:nvPr/>
        </p:nvSpPr>
        <p:spPr>
          <a:xfrm>
            <a:off x="731520" y="1993392"/>
            <a:ext cx="6263640" cy="2834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tos"/>
              </a:rPr>
              <a:t>{{NEXT_STEPS}}</a:t>
            </a:r>
          </a:p>
        </p:txBody>
      </p:sp>
      <p:sp>
        <p:nvSpPr>
          <p:cNvPr id="7" name="protected:s8:closing-panel"/>
          <p:cNvSpPr/>
          <p:nvPr/>
        </p:nvSpPr>
        <p:spPr>
          <a:xfrm>
            <a:off x="7635240" y="1325880"/>
            <a:ext cx="3749039" cy="4526280"/>
          </a:xfrm>
          <a:prstGeom prst="round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rotected:s8:closing-message"/>
          <p:cNvSpPr txBox="1"/>
          <p:nvPr/>
        </p:nvSpPr>
        <p:spPr>
          <a:xfrm>
            <a:off x="8001000" y="2423160"/>
            <a:ext cx="3017520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 Display"/>
              </a:rPr>
              <a:t>BUILD TRUST.
PROVE VALUE.
SCALE RESPONSIBLY.</a:t>
            </a:r>
          </a:p>
        </p:txBody>
      </p:sp>
      <p:sp>
        <p:nvSpPr>
          <p:cNvPr id="9" name="protected:s8:confidentiality"/>
          <p:cNvSpPr txBox="1"/>
          <p:nvPr/>
        </p:nvSpPr>
        <p:spPr>
          <a:xfrm>
            <a:off x="502920" y="6473952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SYNTHETIC DEMO • CONTOSO LIMITED</a:t>
            </a:r>
          </a:p>
        </p:txBody>
      </p:sp>
      <p:sp>
        <p:nvSpPr>
          <p:cNvPr id="10" name="protected:s8:slide-number"/>
          <p:cNvSpPr txBox="1"/>
          <p:nvPr/>
        </p:nvSpPr>
        <p:spPr>
          <a:xfrm>
            <a:off x="11155680" y="6437376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Contoso Limited Case Study Template</dc:title>
  <dc:subject>Synthetic case-study template</dc:subject>
  <dc:creator>Contoso Limited</dc:creator>
  <cp:keywords>synthetic,case-study,template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