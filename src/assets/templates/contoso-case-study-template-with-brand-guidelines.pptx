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1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1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1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1:accent-panel"/>
          <p:cNvSpPr/>
          <p:nvPr/>
        </p:nvSpPr>
        <p:spPr>
          <a:xfrm>
            <a:off x="8823960" y="0"/>
            <a:ext cx="3367735" cy="685800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tected:s1:accent-orbit-1"/>
          <p:cNvSpPr/>
          <p:nvPr/>
        </p:nvSpPr>
        <p:spPr>
          <a:xfrm>
            <a:off x="9372600" y="1234440"/>
            <a:ext cx="1417320" cy="1417320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tected:s1:accent-orbit-2"/>
          <p:cNvSpPr/>
          <p:nvPr/>
        </p:nvSpPr>
        <p:spPr>
          <a:xfrm>
            <a:off x="10222992" y="3840480"/>
            <a:ext cx="713232" cy="7132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:s1:customer-name"/>
          <p:cNvSpPr txBox="1"/>
          <p:nvPr/>
        </p:nvSpPr>
        <p:spPr>
          <a:xfrm>
            <a:off x="685800" y="1417320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4B942"/>
                </a:solidFill>
                <a:latin typeface="Aptos"/>
              </a:rPr>
              <a:t>{{CUSTOMER_NAME}}</a:t>
            </a:r>
          </a:p>
        </p:txBody>
      </p:sp>
      <p:sp>
        <p:nvSpPr>
          <p:cNvPr id="9" name="editable:s1:title"/>
          <p:cNvSpPr txBox="1"/>
          <p:nvPr/>
        </p:nvSpPr>
        <p:spPr>
          <a:xfrm>
            <a:off x="685800" y="1938528"/>
            <a:ext cx="74523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{{TITLE}}</a:t>
            </a:r>
          </a:p>
        </p:txBody>
      </p:sp>
      <p:sp>
        <p:nvSpPr>
          <p:cNvPr id="10" name="editable:s1:subtitle"/>
          <p:cNvSpPr txBox="1"/>
          <p:nvPr/>
        </p:nvSpPr>
        <p:spPr>
          <a:xfrm>
            <a:off x="685800" y="3502152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AD7E3"/>
                </a:solidFill>
                <a:latin typeface="Aptos"/>
              </a:rPr>
              <a:t>A synthetic customer success story</a:t>
            </a:r>
          </a:p>
        </p:txBody>
      </p:sp>
      <p:sp>
        <p:nvSpPr>
          <p:cNvPr id="11" name="protected:s1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12" name="protected:s1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2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2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2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2:title"/>
          <p:cNvSpPr txBox="1"/>
          <p:nvPr/>
        </p:nvSpPr>
        <p:spPr>
          <a:xfrm>
            <a:off x="594360" y="9875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324D"/>
                </a:solidFill>
                <a:latin typeface="Aptos Display"/>
              </a:rPr>
              <a:t>The customer challenge</a:t>
            </a:r>
          </a:p>
        </p:txBody>
      </p:sp>
      <p:sp>
        <p:nvSpPr>
          <p:cNvPr id="6" name="protected:s2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07386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7" name="protected:s2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386"/>
                </a:solidFill>
                <a:latin typeface="Aptos"/>
              </a:rPr>
              <a:t>02</a:t>
            </a:r>
          </a:p>
        </p:txBody>
      </p:sp>
      <p:sp>
        <p:nvSpPr>
          <p:cNvPr id="8" name="protected:s2:challenge-card"/>
          <p:cNvSpPr/>
          <p:nvPr/>
        </p:nvSpPr>
        <p:spPr>
          <a:xfrm>
            <a:off x="640080" y="1783080"/>
            <a:ext cx="6537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tected:s2:context-panel"/>
          <p:cNvSpPr/>
          <p:nvPr/>
        </p:nvSpPr>
        <p:spPr>
          <a:xfrm>
            <a:off x="7543800" y="1783080"/>
            <a:ext cx="3977639" cy="4114800"/>
          </a:xfrm>
          <a:prstGeom prst="round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tected:s2:challenge-label"/>
          <p:cNvSpPr txBox="1"/>
          <p:nvPr/>
        </p:nvSpPr>
        <p:spPr>
          <a:xfrm>
            <a:off x="960120" y="224028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A6A6"/>
                </a:solidFill>
                <a:latin typeface="Aptos"/>
              </a:rPr>
              <a:t>THE CHALLENGE</a:t>
            </a:r>
          </a:p>
        </p:txBody>
      </p:sp>
      <p:sp>
        <p:nvSpPr>
          <p:cNvPr id="11" name="editable:s2:challenge"/>
          <p:cNvSpPr txBox="1"/>
          <p:nvPr/>
        </p:nvSpPr>
        <p:spPr>
          <a:xfrm>
            <a:off x="960120" y="2743200"/>
            <a:ext cx="5897880" cy="224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1C2733"/>
                </a:solidFill>
                <a:latin typeface="Aptos"/>
              </a:rPr>
              <a:t>{{CHALLENGE}}</a:t>
            </a:r>
          </a:p>
        </p:txBody>
      </p:sp>
      <p:sp>
        <p:nvSpPr>
          <p:cNvPr id="12" name="protected:s2:context-label"/>
          <p:cNvSpPr txBox="1"/>
          <p:nvPr/>
        </p:nvSpPr>
        <p:spPr>
          <a:xfrm>
            <a:off x="7955279" y="224028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4B942"/>
                </a:solidFill>
                <a:latin typeface="Aptos"/>
              </a:rPr>
              <a:t>WHY NOW</a:t>
            </a:r>
          </a:p>
        </p:txBody>
      </p:sp>
      <p:sp>
        <p:nvSpPr>
          <p:cNvPr id="13" name="editable:s2:context"/>
          <p:cNvSpPr txBox="1"/>
          <p:nvPr/>
        </p:nvSpPr>
        <p:spPr>
          <a:xfrm>
            <a:off x="7955279" y="2743200"/>
            <a:ext cx="2971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{{OPPORTUNITY_CONTEXT}}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3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3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3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3:title"/>
          <p:cNvSpPr txBox="1"/>
          <p:nvPr/>
        </p:nvSpPr>
        <p:spPr>
          <a:xfrm>
            <a:off x="594360" y="9875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324D"/>
                </a:solidFill>
                <a:latin typeface="Aptos Display"/>
              </a:rPr>
              <a:t>Solution overview</a:t>
            </a:r>
          </a:p>
        </p:txBody>
      </p:sp>
      <p:sp>
        <p:nvSpPr>
          <p:cNvPr id="6" name="protected:s3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07386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7" name="protected:s3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386"/>
                </a:solidFill>
                <a:latin typeface="Aptos"/>
              </a:rPr>
              <a:t>03</a:t>
            </a:r>
          </a:p>
        </p:txBody>
      </p:sp>
      <p:sp>
        <p:nvSpPr>
          <p:cNvPr id="8" name="editable:s3:solution"/>
          <p:cNvSpPr txBox="1"/>
          <p:nvPr/>
        </p:nvSpPr>
        <p:spPr>
          <a:xfrm>
            <a:off x="685800" y="2084831"/>
            <a:ext cx="475488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1C2733"/>
                </a:solidFill>
                <a:latin typeface="Aptos"/>
              </a:rPr>
              <a:t>{{SOLUTION_OVERVIEW}}</a:t>
            </a:r>
          </a:p>
        </p:txBody>
      </p:sp>
      <p:sp>
        <p:nvSpPr>
          <p:cNvPr id="9" name="protected:s3:step-1"/>
          <p:cNvSpPr/>
          <p:nvPr/>
        </p:nvSpPr>
        <p:spPr>
          <a:xfrm>
            <a:off x="5852160" y="2057400"/>
            <a:ext cx="1143000" cy="1143000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tected:s3:step-icon-1"/>
          <p:cNvSpPr txBox="1"/>
          <p:nvPr/>
        </p:nvSpPr>
        <p:spPr>
          <a:xfrm>
            <a:off x="6163056" y="2414016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protected:s3:step-label-1"/>
          <p:cNvSpPr txBox="1"/>
          <p:nvPr/>
        </p:nvSpPr>
        <p:spPr>
          <a:xfrm>
            <a:off x="5715000" y="34015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7324D"/>
                </a:solidFill>
                <a:latin typeface="Aptos"/>
              </a:rPr>
              <a:t>DISCOVER</a:t>
            </a:r>
          </a:p>
        </p:txBody>
      </p:sp>
      <p:sp>
        <p:nvSpPr>
          <p:cNvPr id="12" name="protected:s3:step-2"/>
          <p:cNvSpPr/>
          <p:nvPr/>
        </p:nvSpPr>
        <p:spPr>
          <a:xfrm>
            <a:off x="7726679" y="2057400"/>
            <a:ext cx="1143000" cy="114300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tected:s3:step-icon-2"/>
          <p:cNvSpPr txBox="1"/>
          <p:nvPr/>
        </p:nvSpPr>
        <p:spPr>
          <a:xfrm>
            <a:off x="8037575" y="2414016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protected:s3:step-label-2"/>
          <p:cNvSpPr txBox="1"/>
          <p:nvPr/>
        </p:nvSpPr>
        <p:spPr>
          <a:xfrm>
            <a:off x="7589519" y="34015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7324D"/>
                </a:solidFill>
                <a:latin typeface="Aptos"/>
              </a:rPr>
              <a:t>DESIGN</a:t>
            </a:r>
          </a:p>
        </p:txBody>
      </p:sp>
      <p:sp>
        <p:nvSpPr>
          <p:cNvPr id="15" name="protected:s3:step-3"/>
          <p:cNvSpPr/>
          <p:nvPr/>
        </p:nvSpPr>
        <p:spPr>
          <a:xfrm>
            <a:off x="9601200" y="2057400"/>
            <a:ext cx="1143000" cy="1143000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tected:s3:step-icon-3"/>
          <p:cNvSpPr txBox="1"/>
          <p:nvPr/>
        </p:nvSpPr>
        <p:spPr>
          <a:xfrm>
            <a:off x="9912096" y="2414016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Aptos"/>
              </a:rPr>
              <a:t>3</a:t>
            </a:r>
          </a:p>
        </p:txBody>
      </p:sp>
      <p:sp>
        <p:nvSpPr>
          <p:cNvPr id="17" name="protected:s3:step-label-3"/>
          <p:cNvSpPr txBox="1"/>
          <p:nvPr/>
        </p:nvSpPr>
        <p:spPr>
          <a:xfrm>
            <a:off x="9464040" y="340156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7324D"/>
                </a:solidFill>
                <a:latin typeface="Aptos"/>
              </a:rPr>
              <a:t>DELIVER</a:t>
            </a:r>
          </a:p>
        </p:txBody>
      </p:sp>
      <p:sp>
        <p:nvSpPr>
          <p:cNvPr id="18" name="editable:s3:solution-pillars"/>
          <p:cNvSpPr txBox="1"/>
          <p:nvPr/>
        </p:nvSpPr>
        <p:spPr>
          <a:xfrm>
            <a:off x="5806440" y="4069080"/>
            <a:ext cx="52578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607386"/>
                </a:solidFill>
                <a:latin typeface="Aptos"/>
              </a:rPr>
              <a:t>{{SOLUTION_PILLARS}}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4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4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4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4:title"/>
          <p:cNvSpPr txBox="1"/>
          <p:nvPr/>
        </p:nvSpPr>
        <p:spPr>
          <a:xfrm>
            <a:off x="594360" y="9875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324D"/>
                </a:solidFill>
                <a:latin typeface="Aptos Display"/>
              </a:rPr>
              <a:t>Architecture</a:t>
            </a:r>
          </a:p>
        </p:txBody>
      </p:sp>
      <p:sp>
        <p:nvSpPr>
          <p:cNvPr id="6" name="protected:s4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07386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7" name="protected:s4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386"/>
                </a:solidFill>
                <a:latin typeface="Aptos"/>
              </a:rPr>
              <a:t>04</a:t>
            </a:r>
          </a:p>
        </p:txBody>
      </p:sp>
      <p:sp>
        <p:nvSpPr>
          <p:cNvPr id="8" name="protected:s4:architecture-canvas"/>
          <p:cNvSpPr/>
          <p:nvPr/>
        </p:nvSpPr>
        <p:spPr>
          <a:xfrm>
            <a:off x="658368" y="1737360"/>
            <a:ext cx="10863072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tected:s4:column-1"/>
          <p:cNvSpPr/>
          <p:nvPr/>
        </p:nvSpPr>
        <p:spPr>
          <a:xfrm>
            <a:off x="1005840" y="2240280"/>
            <a:ext cx="2743200" cy="3154680"/>
          </a:xfrm>
          <a:prstGeom prst="roundRect">
            <a:avLst/>
          </a:prstGeom>
          <a:solidFill>
            <a:srgbClr val="F8FAFC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tected:s4:column-label-1"/>
          <p:cNvSpPr txBox="1"/>
          <p:nvPr/>
        </p:nvSpPr>
        <p:spPr>
          <a:xfrm>
            <a:off x="1234440" y="2514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7324D"/>
                </a:solidFill>
                <a:latin typeface="Aptos"/>
              </a:rPr>
              <a:t>EXPERIENCE</a:t>
            </a:r>
          </a:p>
        </p:txBody>
      </p:sp>
      <p:sp>
        <p:nvSpPr>
          <p:cNvPr id="11" name="editable:s4:architecture-column-1"/>
          <p:cNvSpPr txBox="1"/>
          <p:nvPr/>
        </p:nvSpPr>
        <p:spPr>
          <a:xfrm>
            <a:off x="1261872" y="3017520"/>
            <a:ext cx="2231136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C2733"/>
                </a:solidFill>
                <a:latin typeface="Aptos"/>
              </a:rPr>
              <a:t>{{ARCHITECTURE_COLUMN_1}}</a:t>
            </a:r>
          </a:p>
        </p:txBody>
      </p:sp>
      <p:sp>
        <p:nvSpPr>
          <p:cNvPr id="12" name="protected:s4:column-2"/>
          <p:cNvSpPr/>
          <p:nvPr/>
        </p:nvSpPr>
        <p:spPr>
          <a:xfrm>
            <a:off x="4343400" y="2240280"/>
            <a:ext cx="2743200" cy="3154680"/>
          </a:xfrm>
          <a:prstGeom prst="roundRect">
            <a:avLst/>
          </a:prstGeom>
          <a:solidFill>
            <a:srgbClr val="F8FAFC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tected:s4:column-label-2"/>
          <p:cNvSpPr txBox="1"/>
          <p:nvPr/>
        </p:nvSpPr>
        <p:spPr>
          <a:xfrm>
            <a:off x="4572000" y="2514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A6A6"/>
                </a:solidFill>
                <a:latin typeface="Aptos"/>
              </a:rPr>
              <a:t>INTELLIGENCE</a:t>
            </a:r>
          </a:p>
        </p:txBody>
      </p:sp>
      <p:sp>
        <p:nvSpPr>
          <p:cNvPr id="14" name="editable:s4:architecture-column-2"/>
          <p:cNvSpPr txBox="1"/>
          <p:nvPr/>
        </p:nvSpPr>
        <p:spPr>
          <a:xfrm>
            <a:off x="4599432" y="3017520"/>
            <a:ext cx="2231136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C2733"/>
                </a:solidFill>
                <a:latin typeface="Aptos"/>
              </a:rPr>
              <a:t>{{ARCHITECTURE_COLUMN_2}}</a:t>
            </a:r>
          </a:p>
        </p:txBody>
      </p:sp>
      <p:sp>
        <p:nvSpPr>
          <p:cNvPr id="15" name="protected:s4:column-3"/>
          <p:cNvSpPr/>
          <p:nvPr/>
        </p:nvSpPr>
        <p:spPr>
          <a:xfrm>
            <a:off x="7680960" y="2240280"/>
            <a:ext cx="2743200" cy="3154680"/>
          </a:xfrm>
          <a:prstGeom prst="roundRect">
            <a:avLst/>
          </a:prstGeom>
          <a:solidFill>
            <a:srgbClr val="F8FAFC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tected:s4:column-label-3"/>
          <p:cNvSpPr txBox="1"/>
          <p:nvPr/>
        </p:nvSpPr>
        <p:spPr>
          <a:xfrm>
            <a:off x="7909560" y="2514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4B942"/>
                </a:solidFill>
                <a:latin typeface="Aptos"/>
              </a:rPr>
              <a:t>DATA &amp; ACTIONS</a:t>
            </a:r>
          </a:p>
        </p:txBody>
      </p:sp>
      <p:sp>
        <p:nvSpPr>
          <p:cNvPr id="17" name="editable:s4:architecture-column-3"/>
          <p:cNvSpPr txBox="1"/>
          <p:nvPr/>
        </p:nvSpPr>
        <p:spPr>
          <a:xfrm>
            <a:off x="7936992" y="3017520"/>
            <a:ext cx="2231136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C2733"/>
                </a:solidFill>
                <a:latin typeface="Aptos"/>
              </a:rPr>
              <a:t>{{ARCHITECTURE_COLUMN_3}}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5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5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5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5:title"/>
          <p:cNvSpPr txBox="1"/>
          <p:nvPr/>
        </p:nvSpPr>
        <p:spPr>
          <a:xfrm>
            <a:off x="594360" y="9875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324D"/>
                </a:solidFill>
                <a:latin typeface="Aptos Display"/>
              </a:rPr>
              <a:t>Implementation journey</a:t>
            </a:r>
          </a:p>
        </p:txBody>
      </p:sp>
      <p:sp>
        <p:nvSpPr>
          <p:cNvPr id="6" name="protected:s5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07386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7" name="protected:s5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386"/>
                </a:solidFill>
                <a:latin typeface="Aptos"/>
              </a:rPr>
              <a:t>05</a:t>
            </a:r>
          </a:p>
        </p:txBody>
      </p:sp>
      <p:sp>
        <p:nvSpPr>
          <p:cNvPr id="8" name="protected:s5:timeline-track"/>
          <p:cNvSpPr/>
          <p:nvPr/>
        </p:nvSpPr>
        <p:spPr>
          <a:xfrm>
            <a:off x="1531620" y="3127248"/>
            <a:ext cx="8229600" cy="109728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tected:s5:milestone-1"/>
          <p:cNvSpPr/>
          <p:nvPr/>
        </p:nvSpPr>
        <p:spPr>
          <a:xfrm>
            <a:off x="1143000" y="2788920"/>
            <a:ext cx="777240" cy="777240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tected:s5:milestone-number-1"/>
          <p:cNvSpPr txBox="1"/>
          <p:nvPr/>
        </p:nvSpPr>
        <p:spPr>
          <a:xfrm>
            <a:off x="1325880" y="299008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editable:s5:implementation-step-1"/>
          <p:cNvSpPr txBox="1"/>
          <p:nvPr/>
        </p:nvSpPr>
        <p:spPr>
          <a:xfrm>
            <a:off x="640080" y="3886200"/>
            <a:ext cx="1783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C2733"/>
                </a:solidFill>
                <a:latin typeface="Aptos"/>
              </a:rPr>
              <a:t>{{IMPLEMENTATION_STEP_1}}</a:t>
            </a:r>
          </a:p>
        </p:txBody>
      </p:sp>
      <p:sp>
        <p:nvSpPr>
          <p:cNvPr id="12" name="protected:s5:milestone-2"/>
          <p:cNvSpPr/>
          <p:nvPr/>
        </p:nvSpPr>
        <p:spPr>
          <a:xfrm>
            <a:off x="3886200" y="2788920"/>
            <a:ext cx="777240" cy="77724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tected:s5:milestone-number-2"/>
          <p:cNvSpPr txBox="1"/>
          <p:nvPr/>
        </p:nvSpPr>
        <p:spPr>
          <a:xfrm>
            <a:off x="4069080" y="299008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editable:s5:implementation-step-2"/>
          <p:cNvSpPr txBox="1"/>
          <p:nvPr/>
        </p:nvSpPr>
        <p:spPr>
          <a:xfrm>
            <a:off x="3383280" y="3886200"/>
            <a:ext cx="1783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C2733"/>
                </a:solidFill>
                <a:latin typeface="Aptos"/>
              </a:rPr>
              <a:t>{{IMPLEMENTATION_STEP_2}}</a:t>
            </a:r>
          </a:p>
        </p:txBody>
      </p:sp>
      <p:sp>
        <p:nvSpPr>
          <p:cNvPr id="15" name="protected:s5:milestone-3"/>
          <p:cNvSpPr/>
          <p:nvPr/>
        </p:nvSpPr>
        <p:spPr>
          <a:xfrm>
            <a:off x="6629400" y="2788920"/>
            <a:ext cx="777240" cy="777240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tected:s5:milestone-number-3"/>
          <p:cNvSpPr txBox="1"/>
          <p:nvPr/>
        </p:nvSpPr>
        <p:spPr>
          <a:xfrm>
            <a:off x="6812280" y="299008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editable:s5:implementation-step-3"/>
          <p:cNvSpPr txBox="1"/>
          <p:nvPr/>
        </p:nvSpPr>
        <p:spPr>
          <a:xfrm>
            <a:off x="6126480" y="3886200"/>
            <a:ext cx="1783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C2733"/>
                </a:solidFill>
                <a:latin typeface="Aptos"/>
              </a:rPr>
              <a:t>{{IMPLEMENTATION_STEP_3}}</a:t>
            </a:r>
          </a:p>
        </p:txBody>
      </p:sp>
      <p:sp>
        <p:nvSpPr>
          <p:cNvPr id="18" name="protected:s5:milestone-4"/>
          <p:cNvSpPr/>
          <p:nvPr/>
        </p:nvSpPr>
        <p:spPr>
          <a:xfrm>
            <a:off x="9372600" y="2788920"/>
            <a:ext cx="777240" cy="77724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otected:s5:milestone-number-4"/>
          <p:cNvSpPr txBox="1"/>
          <p:nvPr/>
        </p:nvSpPr>
        <p:spPr>
          <a:xfrm>
            <a:off x="9555480" y="299008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editable:s5:implementation-step-4"/>
          <p:cNvSpPr txBox="1"/>
          <p:nvPr/>
        </p:nvSpPr>
        <p:spPr>
          <a:xfrm>
            <a:off x="8869680" y="3886200"/>
            <a:ext cx="1783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C2733"/>
                </a:solidFill>
                <a:latin typeface="Aptos"/>
              </a:rPr>
              <a:t>{{IMPLEMENTATION_STEP_4}}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6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6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6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6:title"/>
          <p:cNvSpPr txBox="1"/>
          <p:nvPr/>
        </p:nvSpPr>
        <p:spPr>
          <a:xfrm>
            <a:off x="594360" y="987552"/>
            <a:ext cx="109270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7324D"/>
                </a:solidFill>
                <a:latin typeface="Aptos Display"/>
              </a:rPr>
              <a:t>Measurable outcomes</a:t>
            </a:r>
          </a:p>
        </p:txBody>
      </p:sp>
      <p:sp>
        <p:nvSpPr>
          <p:cNvPr id="6" name="protected:s6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07386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7" name="protected:s6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07386"/>
                </a:solidFill>
                <a:latin typeface="Aptos"/>
              </a:rPr>
              <a:t>06</a:t>
            </a:r>
          </a:p>
        </p:txBody>
      </p:sp>
      <p:sp>
        <p:nvSpPr>
          <p:cNvPr id="8" name="protected:s6:metric-card-1"/>
          <p:cNvSpPr/>
          <p:nvPr/>
        </p:nvSpPr>
        <p:spPr>
          <a:xfrm>
            <a:off x="777240" y="1920240"/>
            <a:ext cx="33375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otected:s6:metric-icon-1"/>
          <p:cNvSpPr/>
          <p:nvPr/>
        </p:nvSpPr>
        <p:spPr>
          <a:xfrm>
            <a:off x="2011680" y="2331720"/>
            <a:ext cx="868680" cy="868680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tected:s6:metric-number-1"/>
          <p:cNvSpPr txBox="1"/>
          <p:nvPr/>
        </p:nvSpPr>
        <p:spPr>
          <a:xfrm>
            <a:off x="2249424" y="26151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editable:s6:outcome-1"/>
          <p:cNvSpPr txBox="1"/>
          <p:nvPr/>
        </p:nvSpPr>
        <p:spPr>
          <a:xfrm>
            <a:off x="1097280" y="352044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C2733"/>
                </a:solidFill>
                <a:latin typeface="Aptos"/>
              </a:rPr>
              <a:t>{{MEASURABLE_OUTCOME_1}}</a:t>
            </a:r>
          </a:p>
        </p:txBody>
      </p:sp>
      <p:sp>
        <p:nvSpPr>
          <p:cNvPr id="12" name="protected:s6:metric-card-2"/>
          <p:cNvSpPr/>
          <p:nvPr/>
        </p:nvSpPr>
        <p:spPr>
          <a:xfrm>
            <a:off x="4526279" y="1920240"/>
            <a:ext cx="33375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tected:s6:metric-icon-2"/>
          <p:cNvSpPr/>
          <p:nvPr/>
        </p:nvSpPr>
        <p:spPr>
          <a:xfrm>
            <a:off x="5760719" y="2331720"/>
            <a:ext cx="868680" cy="86868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otected:s6:metric-number-2"/>
          <p:cNvSpPr txBox="1"/>
          <p:nvPr/>
        </p:nvSpPr>
        <p:spPr>
          <a:xfrm>
            <a:off x="5998464" y="26151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editable:s6:outcome-2"/>
          <p:cNvSpPr txBox="1"/>
          <p:nvPr/>
        </p:nvSpPr>
        <p:spPr>
          <a:xfrm>
            <a:off x="4846319" y="352044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C2733"/>
                </a:solidFill>
                <a:latin typeface="Aptos"/>
              </a:rPr>
              <a:t>{{MEASURABLE_OUTCOME_2}}</a:t>
            </a:r>
          </a:p>
        </p:txBody>
      </p:sp>
      <p:sp>
        <p:nvSpPr>
          <p:cNvPr id="16" name="protected:s6:metric-card-3"/>
          <p:cNvSpPr/>
          <p:nvPr/>
        </p:nvSpPr>
        <p:spPr>
          <a:xfrm>
            <a:off x="8275319" y="1920240"/>
            <a:ext cx="33375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otected:s6:metric-icon-3"/>
          <p:cNvSpPr/>
          <p:nvPr/>
        </p:nvSpPr>
        <p:spPr>
          <a:xfrm>
            <a:off x="9509759" y="2331720"/>
            <a:ext cx="868680" cy="868680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tected:s6:metric-number-3"/>
          <p:cNvSpPr txBox="1"/>
          <p:nvPr/>
        </p:nvSpPr>
        <p:spPr>
          <a:xfrm>
            <a:off x="9747503" y="2615184"/>
            <a:ext cx="384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7324D"/>
                </a:solidFill>
                <a:latin typeface="Aptos"/>
              </a:rPr>
              <a:t>3</a:t>
            </a:r>
          </a:p>
        </p:txBody>
      </p:sp>
      <p:sp>
        <p:nvSpPr>
          <p:cNvPr id="19" name="editable:s6:outcome-3"/>
          <p:cNvSpPr txBox="1"/>
          <p:nvPr/>
        </p:nvSpPr>
        <p:spPr>
          <a:xfrm>
            <a:off x="8595359" y="352044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C2733"/>
                </a:solidFill>
                <a:latin typeface="Aptos"/>
              </a:rPr>
              <a:t>{{MEASURABLE_OUTCOME_3}}</a:t>
            </a:r>
          </a:p>
        </p:txBody>
      </p:sp>
      <p:sp>
        <p:nvSpPr>
          <p:cNvPr id="20" name="protected:s6:evidence-note"/>
          <p:cNvSpPr txBox="1"/>
          <p:nvPr/>
        </p:nvSpPr>
        <p:spPr>
          <a:xfrm>
            <a:off x="3154680" y="5715000"/>
            <a:ext cx="5897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7386"/>
                </a:solidFill>
                <a:latin typeface="Aptos"/>
              </a:rPr>
              <a:t>Only source-supported outcomes are permitted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6A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7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7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7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7:quote-mark"/>
          <p:cNvSpPr txBox="1"/>
          <p:nvPr/>
        </p:nvSpPr>
        <p:spPr>
          <a:xfrm>
            <a:off x="658368" y="1261872"/>
            <a:ext cx="1005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4B942"/>
                </a:solidFill>
                <a:latin typeface="Georgia"/>
              </a:rPr>
              <a:t>“</a:t>
            </a:r>
          </a:p>
        </p:txBody>
      </p:sp>
      <p:sp>
        <p:nvSpPr>
          <p:cNvPr id="6" name="editable:s7:quote"/>
          <p:cNvSpPr txBox="1"/>
          <p:nvPr/>
        </p:nvSpPr>
        <p:spPr>
          <a:xfrm>
            <a:off x="1463040" y="1828800"/>
            <a:ext cx="9738360" cy="2240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Georgia"/>
              </a:rPr>
              <a:t>{{CUSTOMER_QUOTE}}</a:t>
            </a:r>
          </a:p>
        </p:txBody>
      </p:sp>
      <p:sp>
        <p:nvSpPr>
          <p:cNvPr id="7" name="editable:s7:quote-attribution"/>
          <p:cNvSpPr txBox="1"/>
          <p:nvPr/>
        </p:nvSpPr>
        <p:spPr>
          <a:xfrm>
            <a:off x="1508760" y="4572000"/>
            <a:ext cx="9646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7FFFF"/>
                </a:solidFill>
                <a:latin typeface="Aptos"/>
              </a:rPr>
              <a:t>{{QUOTE_ATTRIBUTION}}</a:t>
            </a:r>
          </a:p>
        </p:txBody>
      </p:sp>
      <p:sp>
        <p:nvSpPr>
          <p:cNvPr id="8" name="protected:s7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9" name="protected:s7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tected:s8:logo-mark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F4B942"/>
          </a:solidFill>
          <a:ln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tected:s8:logo-initials"/>
          <p:cNvSpPr txBox="1"/>
          <p:nvPr/>
        </p:nvSpPr>
        <p:spPr>
          <a:xfrm>
            <a:off x="585216" y="438912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4" name="protected:s8:logo-wordmark"/>
          <p:cNvSpPr txBox="1"/>
          <p:nvPr/>
        </p:nvSpPr>
        <p:spPr>
          <a:xfrm>
            <a:off x="1024128" y="3931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CONTOSO LIMITED</a:t>
            </a:r>
          </a:p>
        </p:txBody>
      </p:sp>
      <p:sp>
        <p:nvSpPr>
          <p:cNvPr id="5" name="protected:s8:title"/>
          <p:cNvSpPr txBox="1"/>
          <p:nvPr/>
        </p:nvSpPr>
        <p:spPr>
          <a:xfrm>
            <a:off x="685800" y="1115568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 Display"/>
              </a:rPr>
              <a:t>Next steps</a:t>
            </a:r>
          </a:p>
        </p:txBody>
      </p:sp>
      <p:sp>
        <p:nvSpPr>
          <p:cNvPr id="6" name="editable:s8:next-steps"/>
          <p:cNvSpPr txBox="1"/>
          <p:nvPr/>
        </p:nvSpPr>
        <p:spPr>
          <a:xfrm>
            <a:off x="731520" y="1993392"/>
            <a:ext cx="6263640" cy="2834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tos"/>
              </a:rPr>
              <a:t>{{NEXT_STEPS}}</a:t>
            </a:r>
          </a:p>
        </p:txBody>
      </p:sp>
      <p:sp>
        <p:nvSpPr>
          <p:cNvPr id="7" name="protected:s8:closing-panel"/>
          <p:cNvSpPr/>
          <p:nvPr/>
        </p:nvSpPr>
        <p:spPr>
          <a:xfrm>
            <a:off x="7635240" y="1325880"/>
            <a:ext cx="3749039" cy="4526280"/>
          </a:xfrm>
          <a:prstGeom prst="round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tected:s8:closing-message"/>
          <p:cNvSpPr txBox="1"/>
          <p:nvPr/>
        </p:nvSpPr>
        <p:spPr>
          <a:xfrm>
            <a:off x="8001000" y="2423160"/>
            <a:ext cx="301752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 Display"/>
              </a:rPr>
              <a:t>BUILD TRUST.
PROVE VALUE.
SCALE RESPONSIBLY.</a:t>
            </a:r>
          </a:p>
        </p:txBody>
      </p:sp>
      <p:sp>
        <p:nvSpPr>
          <p:cNvPr id="9" name="protected:s8:confidentiality"/>
          <p:cNvSpPr txBox="1"/>
          <p:nvPr/>
        </p:nvSpPr>
        <p:spPr>
          <a:xfrm>
            <a:off x="502920" y="647395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SYNTHETIC DEMO • CONTOSO LIMITED</a:t>
            </a:r>
          </a:p>
        </p:txBody>
      </p:sp>
      <p:sp>
        <p:nvSpPr>
          <p:cNvPr id="10" name="protected:s8:slide-number"/>
          <p:cNvSpPr txBox="1"/>
          <p:nvPr/>
        </p:nvSpPr>
        <p:spPr>
          <a:xfrm>
            <a:off x="11155680" y="6437376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32520" y="-54864"/>
            <a:ext cx="3566160" cy="70408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64040" y="1051560"/>
            <a:ext cx="1554480" cy="155448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3977639"/>
            <a:ext cx="960120" cy="9601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8280" y="4892040"/>
            <a:ext cx="502920" cy="502920"/>
          </a:xfrm>
          <a:prstGeom prst="ellipse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29768"/>
            <a:ext cx="411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657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FFFFFF"/>
                </a:solidFill>
                <a:latin typeface="Aptos"/>
              </a:rPr>
              <a:t>CONTOSO LIMITED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F4B942"/>
                </a:solidFill>
                <a:latin typeface="Aptos"/>
              </a:rPr>
              <a:t>CONTOSO LIMITED BRAND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7863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ptos Display"/>
              </a:rPr>
              <a:t>Brand Guidelines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77639"/>
            <a:ext cx="7589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D7E1EA"/>
                </a:solidFill>
                <a:latin typeface="Aptos"/>
              </a:rPr>
              <a:t>How to keep every new slide on-brand — logo, colour, type, motifs, voice and layout for anything you build beyond the templated pages.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FFFFFF"/>
                </a:solidFill>
                <a:latin typeface="Aptos"/>
              </a:rPr>
              <a:t>BRAND GUIDELINES  •  CONTOSO LIMITED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19088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411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657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17324D"/>
                </a:solidFill>
                <a:latin typeface="Aptos"/>
              </a:rPr>
              <a:t>CONTOSO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00A6A6"/>
                </a:solidFill>
                <a:latin typeface="Aptos"/>
              </a:rPr>
              <a:t>WHAT WE STAND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324D"/>
                </a:solidFill>
                <a:latin typeface="Aptos Display"/>
              </a:rPr>
              <a:t>Brand foundation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82296" cy="8686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 spc="140">
                <a:solidFill>
                  <a:srgbClr val="00A6A6"/>
                </a:solidFill>
                <a:latin typeface="Aptos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65960"/>
            <a:ext cx="8183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C2733"/>
                </a:solidFill>
                <a:latin typeface="Aptos"/>
              </a:rPr>
              <a:t>Help every customer build trust, prove value, and scale responsibly with technology that earns its place.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98648"/>
            <a:ext cx="82296" cy="8686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98648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 spc="140">
                <a:solidFill>
                  <a:srgbClr val="00A6A6"/>
                </a:solidFill>
                <a:latin typeface="Aptos"/>
              </a:rPr>
              <a:t>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98648"/>
            <a:ext cx="8183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C2733"/>
                </a:solidFill>
                <a:latin typeface="Aptos"/>
              </a:rPr>
              <a:t>A world where enterprises adopt new capabilities with confidence, evidence, and control.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831335"/>
            <a:ext cx="82296" cy="8686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31335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 spc="140">
                <a:solidFill>
                  <a:srgbClr val="00A6A6"/>
                </a:solidFill>
                <a:latin typeface="Aptos"/>
              </a:rPr>
              <a:t>BRAND PROMISE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831335"/>
            <a:ext cx="8183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7324D"/>
                </a:solidFill>
                <a:latin typeface="Aptos Display"/>
              </a:rPr>
              <a:t>Build trust. Prove value. Scale responsibly.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764023"/>
            <a:ext cx="82296" cy="8686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64023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 spc="140">
                <a:solidFill>
                  <a:srgbClr val="00A6A6"/>
                </a:solidFill>
                <a:latin typeface="Aptos"/>
              </a:rPr>
              <a:t>POSITIONING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764023"/>
            <a:ext cx="8183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C2733"/>
                </a:solidFill>
                <a:latin typeface="Aptos"/>
              </a:rPr>
              <a:t>The evidence-led partner for enterprises modernising with care — practical, transparent, and outcome-driven.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424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607386"/>
                </a:solidFill>
                <a:latin typeface="Aptos"/>
              </a:rPr>
              <a:t>BRAND PERSONALITY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5687568"/>
            <a:ext cx="127558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5687568"/>
            <a:ext cx="12755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7324D"/>
                </a:solidFill>
                <a:latin typeface="Aptos"/>
              </a:rPr>
              <a:t>Trustworthy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3420" y="568756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3420" y="568756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7324D"/>
                </a:solidFill>
                <a:latin typeface="Aptos"/>
              </a:rPr>
              <a:t>Evidence-led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9612" y="5687568"/>
            <a:ext cx="69951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9612" y="5687568"/>
            <a:ext cx="6995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7324D"/>
                </a:solidFill>
                <a:latin typeface="Aptos"/>
              </a:rPr>
              <a:t>Human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5687568"/>
            <a:ext cx="108356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5687568"/>
            <a:ext cx="108356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7324D"/>
                </a:solidFill>
                <a:latin typeface="Aptos"/>
              </a:rPr>
              <a:t>Pragmatic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1875" y="5687568"/>
            <a:ext cx="165963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51875" y="5687568"/>
            <a:ext cx="16596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7324D"/>
                </a:solidFill>
                <a:latin typeface="Aptos"/>
              </a:rPr>
              <a:t>Forward-looking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607386"/>
                </a:solidFill>
                <a:latin typeface="Aptos"/>
              </a:rPr>
              <a:t>BRAND GUIDELINES  •  CONTOSO LIMITED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19088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738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411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657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17324D"/>
                </a:solidFill>
                <a:latin typeface="Aptos"/>
              </a:rPr>
              <a:t>CONTOSO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00A6A6"/>
                </a:solidFill>
                <a:latin typeface="Aptos"/>
              </a:rPr>
              <a:t>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324D"/>
                </a:solidFill>
                <a:latin typeface="Aptos Display"/>
              </a:rPr>
              <a:t>The logo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4892040" cy="3246120"/>
          </a:xfrm>
          <a:prstGeom prst="roundRect">
            <a:avLst>
              <a:gd name="adj" fmla="val 5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2788920"/>
            <a:ext cx="1143000" cy="114300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17520"/>
            <a:ext cx="1143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788920"/>
            <a:ext cx="27432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spc="100">
                <a:solidFill>
                  <a:srgbClr val="FFFFFF"/>
                </a:solidFill>
                <a:latin typeface="Aptos"/>
              </a:rPr>
              <a:t>CONTOSO
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6052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7E1EA"/>
                </a:solidFill>
                <a:latin typeface="Aptos"/>
              </a:rPr>
              <a:t>Primary lockup — monogram + wordmark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96596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00A6A6"/>
                </a:solidFill>
                <a:latin typeface="Aptos"/>
              </a:rPr>
              <a:t>MONOGRAM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258568"/>
            <a:ext cx="56235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C2733"/>
                </a:solidFill>
                <a:latin typeface="Aptos"/>
              </a:rPr>
              <a:t>The “CL” disc. Use alone only where the full name already appears, e.g. avatars or favicons.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807208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00A6A6"/>
                </a:solidFill>
                <a:latin typeface="Aptos"/>
              </a:rPr>
              <a:t>CLEAR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099815"/>
            <a:ext cx="56235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C2733"/>
                </a:solidFill>
                <a:latin typeface="Aptos"/>
              </a:rPr>
              <a:t>Keep clear space on all sides equal to the height of the CL monogram. Never crowd the lockup.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648456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00A6A6"/>
                </a:solidFill>
                <a:latin typeface="Aptos"/>
              </a:rPr>
              <a:t>MINIMUM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941063"/>
            <a:ext cx="56235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C2733"/>
                </a:solidFill>
                <a:latin typeface="Aptos"/>
              </a:rPr>
              <a:t>Digital 120 px wide · print 25 mm wide. Below this, drop the wordmark and keep the monogram.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489704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00A6A6"/>
                </a:solidFill>
                <a:latin typeface="Aptos"/>
              </a:rPr>
              <a:t>COLOUR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4782312"/>
            <a:ext cx="56235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C2733"/>
                </a:solidFill>
                <a:latin typeface="Aptos"/>
              </a:rPr>
              <a:t>Amber monogram on navy; teal monogram on light. Wordmark navy on light, white on dark.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607386"/>
                </a:solidFill>
                <a:latin typeface="Aptos"/>
              </a:rPr>
              <a:t>BRAND GUIDELINES  •  CONTOSO LIMITED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19088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738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411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657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17324D"/>
                </a:solidFill>
                <a:latin typeface="Aptos"/>
              </a:rPr>
              <a:t>CONTOSO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00A6A6"/>
                </a:solidFill>
                <a:latin typeface="Aptos"/>
              </a:rPr>
              <a:t>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324D"/>
                </a:solidFill>
                <a:latin typeface="Aptos Display"/>
              </a:rPr>
              <a:t>Logo — what not to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352044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" y="2240279"/>
            <a:ext cx="384048" cy="384048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24027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0370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Don’t stretch or distort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15768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07386"/>
                </a:solidFill>
                <a:latin typeface="Aptos"/>
              </a:rPr>
              <a:t>Keep the original proportions.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965960"/>
            <a:ext cx="352044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240279"/>
            <a:ext cx="384048" cy="384048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24027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20370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Don’t recolour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715768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07386"/>
                </a:solidFill>
                <a:latin typeface="Aptos"/>
              </a:rPr>
              <a:t>Only palette colours, in the approved pairings.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6" y="1965960"/>
            <a:ext cx="352044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93608" y="2240279"/>
            <a:ext cx="384048" cy="384048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24027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220370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Don’t rotate or tilt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2715768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07386"/>
                </a:solidFill>
                <a:latin typeface="Aptos"/>
              </a:rPr>
              <a:t>The lockup always sits level.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794760"/>
            <a:ext cx="352044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4069080"/>
            <a:ext cx="384048" cy="384048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0690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03250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Don’t add effects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544568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07386"/>
                </a:solidFill>
                <a:latin typeface="Aptos"/>
              </a:rPr>
              <a:t>No shadows, glows, bevels or outlines.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3794760"/>
            <a:ext cx="352044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0" y="4069080"/>
            <a:ext cx="384048" cy="384048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0690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403250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Don’t use low contrast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4544568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07386"/>
                </a:solidFill>
                <a:latin typeface="Aptos"/>
              </a:rPr>
              <a:t>Never place on busy or similar-tone backgrounds.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37576" y="3794760"/>
            <a:ext cx="352044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93608" y="4069080"/>
            <a:ext cx="384048" cy="384048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8" y="40690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0536" y="403250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7324D"/>
                </a:solidFill>
                <a:latin typeface="Aptos"/>
              </a:rPr>
              <a:t>Don’t rearrange parts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0536" y="4544568"/>
            <a:ext cx="2514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07386"/>
                </a:solidFill>
                <a:latin typeface="Aptos"/>
              </a:rPr>
              <a:t>Never resize or reposition the monogram and wordmark.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55664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607386"/>
                </a:solidFill>
                <a:latin typeface="Aptos"/>
              </a:rPr>
              <a:t>BRAND GUIDELINES  •  CONTOSO LIMITED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19088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738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411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657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17324D"/>
                </a:solidFill>
                <a:latin typeface="Aptos"/>
              </a:rPr>
              <a:t>CONTOSO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00A6A6"/>
                </a:solidFill>
                <a:latin typeface="Aptos"/>
              </a:rPr>
              <a:t>COLOUR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324D"/>
                </a:solidFill>
                <a:latin typeface="Aptos Display"/>
              </a:rPr>
              <a:t>Colour palette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3520440" cy="2011680"/>
          </a:xfrm>
          <a:prstGeom prst="roundRect">
            <a:avLst>
              <a:gd name="adj" fmla="val 5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FFFFFF"/>
                </a:solidFill>
                <a:latin typeface="Aptos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4144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 Display"/>
              </a:rPr>
              <a:t>Navy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7296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FFFFF"/>
                </a:solidFill>
                <a:latin typeface="Aptos"/>
              </a:rPr>
              <a:t>HEX  #17324D
RGB  23 · 50 · 77
CMYK  70 · 35 · 0 · 70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74519"/>
            <a:ext cx="3520440" cy="2011680"/>
          </a:xfrm>
          <a:prstGeom prst="roundRect">
            <a:avLst>
              <a:gd name="adj" fmla="val 5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30552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FFFFFF"/>
                </a:solidFill>
                <a:latin typeface="Aptos"/>
              </a:rPr>
              <a:t>SECONDARY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4144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 Display"/>
              </a:rPr>
              <a:t>Teal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17296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FFFFF"/>
                </a:solidFill>
                <a:latin typeface="Aptos"/>
              </a:rPr>
              <a:t>HEX  #00A6A6
RGB  0 · 166 · 166
CMYK  100 · 0 · 0 · 35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6" y="1874519"/>
            <a:ext cx="3520440" cy="2011680"/>
          </a:xfrm>
          <a:prstGeom prst="roundRect">
            <a:avLst>
              <a:gd name="adj" fmla="val 5000"/>
            </a:avLst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130552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7324D"/>
                </a:solidFill>
                <a:latin typeface="Aptos"/>
              </a:rPr>
              <a:t>ACCENT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44144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7324D"/>
                </a:solidFill>
                <a:latin typeface="Aptos Display"/>
              </a:rPr>
              <a:t>Amber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172968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7324D"/>
                </a:solidFill>
                <a:latin typeface="Aptos"/>
              </a:rPr>
              <a:t>HEX  #F4B942
RGB  244 · 185 · 66
CMYK  0 · 24 · 73 ·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24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607386"/>
                </a:solidFill>
                <a:latin typeface="Aptos"/>
              </a:rPr>
              <a:t>NEUTRALS &amp; SUPPORTING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590288"/>
            <a:ext cx="1773936" cy="1234440"/>
          </a:xfrm>
          <a:prstGeom prst="roundRect">
            <a:avLst>
              <a:gd name="adj" fmla="val 8000"/>
            </a:avLst>
          </a:prstGeom>
          <a:solidFill>
            <a:srgbClr val="1C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340096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Deep 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559552"/>
            <a:ext cx="1444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ptos"/>
              </a:rPr>
              <a:t>#1C2733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78024" y="4590288"/>
            <a:ext cx="1773936" cy="1234440"/>
          </a:xfrm>
          <a:prstGeom prst="roundRect">
            <a:avLst>
              <a:gd name="adj" fmla="val 8000"/>
            </a:avLst>
          </a:prstGeom>
          <a:solidFill>
            <a:srgbClr val="607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42616" y="5340096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Slate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42616" y="5559552"/>
            <a:ext cx="1444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ptos"/>
              </a:rPr>
              <a:t>#607386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4590288"/>
            <a:ext cx="1773936" cy="1234440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79" y="5340096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7386"/>
                </a:solidFill>
                <a:latin typeface="Aptos"/>
              </a:rPr>
              <a:t>Mist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5559552"/>
            <a:ext cx="1444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07386"/>
                </a:solidFill>
                <a:latin typeface="Aptos"/>
              </a:rPr>
              <a:t>#F3F7FA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4590288"/>
            <a:ext cx="1773936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5340096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7386"/>
                </a:solidFill>
                <a:latin typeface="Aptos"/>
              </a:rPr>
              <a:t>Paper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5559552"/>
            <a:ext cx="1444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07386"/>
                </a:solidFill>
                <a:latin typeface="Aptos"/>
              </a:rPr>
              <a:t>#F8FAFC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9016" y="4590288"/>
            <a:ext cx="1773936" cy="1234440"/>
          </a:xfrm>
          <a:prstGeom prst="roundRect">
            <a:avLst>
              <a:gd name="adj" fmla="val 8000"/>
            </a:avLst>
          </a:prstGeom>
          <a:solidFill>
            <a:srgbClr val="CAD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8" y="5340096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7324D"/>
                </a:solidFill>
                <a:latin typeface="Aptos"/>
              </a:rPr>
              <a:t>Divider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8" y="5559552"/>
            <a:ext cx="1444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7324D"/>
                </a:solidFill>
                <a:latin typeface="Aptos"/>
              </a:rPr>
              <a:t>#CAD7E3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12680" y="4590288"/>
            <a:ext cx="1773936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77272" y="5340096"/>
            <a:ext cx="14447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07386"/>
                </a:solidFill>
                <a:latin typeface="Aptos"/>
              </a:rPr>
              <a:t>White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77272" y="5559552"/>
            <a:ext cx="1444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07386"/>
                </a:solidFill>
                <a:latin typeface="Aptos"/>
              </a:rPr>
              <a:t>#FFFFFF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55664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607386"/>
                </a:solidFill>
                <a:latin typeface="Aptos"/>
              </a:rPr>
              <a:t>BRAND GUIDELINES  •  CONTOSO LIMITED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19088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738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411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657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17324D"/>
                </a:solidFill>
                <a:latin typeface="Aptos"/>
              </a:rPr>
              <a:t>CONTOSO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00A6A6"/>
                </a:solidFill>
                <a:latin typeface="Aptos"/>
              </a:rPr>
              <a:t>COLOUR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324D"/>
                </a:solidFill>
                <a:latin typeface="Aptos Display"/>
              </a:rPr>
              <a:t>Using colour &amp; accessibility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17324D"/>
                </a:solidFill>
                <a:latin typeface="Aptos"/>
              </a:rPr>
              <a:t>BALANCE  —  60 / 30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3483863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240280"/>
            <a:ext cx="33375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60%  Neutrals + navy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78224" y="2240280"/>
            <a:ext cx="1741931" cy="65836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2" y="2240280"/>
            <a:ext cx="15956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ptos"/>
              </a:rPr>
              <a:t>30%  Teal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20156" y="2240280"/>
            <a:ext cx="580644" cy="658368"/>
          </a:xfrm>
          <a:prstGeom prst="rect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9884" y="2240280"/>
            <a:ext cx="4343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7324D"/>
                </a:solidFill>
                <a:latin typeface="Aptos"/>
              </a:rPr>
              <a:t>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4436" y="2971800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07386"/>
                </a:solidFill>
                <a:latin typeface="Aptos"/>
              </a:rPr>
              <a:t>Amber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08960"/>
            <a:ext cx="5806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C2733"/>
                </a:solidFill>
                <a:latin typeface="Aptos"/>
              </a:rPr>
              <a:t>Let navy and light neutrals carry the page. Teal supports — panels, accents, one key figure. Amber is the spark: use it sparingly to draw the eye to a single element. Never split a slide evenly between all three.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874519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17324D"/>
                </a:solidFill>
                <a:latin typeface="Aptos"/>
              </a:rPr>
              <a:t>APPROVED TEXT PAIRINGS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2240280"/>
            <a:ext cx="566928" cy="4572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24028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24028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2733"/>
                </a:solidFill>
                <a:latin typeface="Aptos"/>
              </a:rPr>
              <a:t>White on Navy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59" y="2240280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07386"/>
                </a:solidFill>
                <a:latin typeface="Aptos"/>
              </a:rPr>
              <a:t>AAA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40" y="23042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2304288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2807208"/>
            <a:ext cx="56692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807208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C2733"/>
                </a:solidFill>
                <a:latin typeface="Aptos"/>
              </a:rPr>
              <a:t>Aa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807208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2733"/>
                </a:solidFill>
                <a:latin typeface="Aptos"/>
              </a:rPr>
              <a:t>Ink on White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59" y="2807208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07386"/>
                </a:solidFill>
                <a:latin typeface="Aptos"/>
              </a:rPr>
              <a:t>AAA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07040" y="2871216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2871216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3374136"/>
            <a:ext cx="566928" cy="457200"/>
          </a:xfrm>
          <a:prstGeom prst="rect">
            <a:avLst/>
          </a:prstGeom>
          <a:solidFill>
            <a:srgbClr val="F3F7FA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374136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7324D"/>
                </a:solidFill>
                <a:latin typeface="Aptos"/>
              </a:rPr>
              <a:t>Aa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374136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2733"/>
                </a:solidFill>
                <a:latin typeface="Aptos"/>
              </a:rPr>
              <a:t>Navy on Mist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59" y="3374136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07386"/>
                </a:solidFill>
                <a:latin typeface="Aptos"/>
              </a:rPr>
              <a:t>AAA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07040" y="3438144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0" y="3438144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3941064"/>
            <a:ext cx="566928" cy="4572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3941064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4B942"/>
                </a:solidFill>
                <a:latin typeface="Aptos"/>
              </a:rPr>
              <a:t>Aa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3941064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2733"/>
                </a:solidFill>
                <a:latin typeface="Aptos"/>
              </a:rPr>
              <a:t>Amber on Navy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59" y="3941064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07386"/>
                </a:solidFill>
                <a:latin typeface="Aptos"/>
              </a:rPr>
              <a:t>7.4:1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607040" y="400507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0" y="4005072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PASS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40" y="4507992"/>
            <a:ext cx="566928" cy="4572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4507992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Aa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4507992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2733"/>
                </a:solidFill>
                <a:latin typeface="Aptos"/>
              </a:rPr>
              <a:t>White on Teal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59" y="4507992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07386"/>
                </a:solidFill>
                <a:latin typeface="Aptos"/>
              </a:rPr>
              <a:t>3.0:1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607040" y="457200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07040" y="4572000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LARGE ONLY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20840" y="5074920"/>
            <a:ext cx="56692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507492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4B942"/>
                </a:solidFill>
                <a:latin typeface="Aptos"/>
              </a:rPr>
              <a:t>Aa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2360" y="5074920"/>
            <a:ext cx="2606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C2733"/>
                </a:solidFill>
                <a:latin typeface="Aptos"/>
              </a:rPr>
              <a:t>Amber / Teal text on white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5074920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07386"/>
                </a:solidFill>
                <a:latin typeface="Aptos"/>
              </a:rPr>
              <a:t>low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607040" y="51389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07040" y="5138928"/>
            <a:ext cx="960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AVOID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55664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607386"/>
                </a:solidFill>
                <a:latin typeface="Aptos"/>
              </a:rPr>
              <a:t>BRAND GUIDELINES  •  CONTOSO LIMITED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6419088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7386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411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657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17324D"/>
                </a:solidFill>
                <a:latin typeface="Aptos"/>
              </a:rPr>
              <a:t>CONTOSO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00A6A6"/>
                </a:solidFill>
                <a:latin typeface="Aptos"/>
              </a:rP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324D"/>
                </a:solidFill>
                <a:latin typeface="Aptos Display"/>
              </a:rPr>
              <a:t>Typography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4892040" cy="3703320"/>
          </a:xfrm>
          <a:prstGeom prst="roundRect">
            <a:avLst>
              <a:gd name="adj" fmla="val 5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297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Aptos Display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F4B942"/>
                </a:solidFill>
                <a:latin typeface="Aptos"/>
              </a:rPr>
              <a:t>APTOS DISPLAY · BOLD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ptos"/>
              </a:rPr>
              <a:t>Aptos — the body typeface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45152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D7E1EA"/>
                </a:solidFill>
                <a:latin typeface="Georgia"/>
              </a:rPr>
              <a:t>“Georgia italic sets the editorial pull-quote.”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96596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00A6A6"/>
                </a:solidFill>
                <a:latin typeface="Aptos"/>
              </a:rPr>
              <a:t>TYPE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377440"/>
            <a:ext cx="3063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Aptos"/>
              </a:rPr>
              <a:t>H1 · Slide 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37744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07386"/>
                </a:solidFill>
                <a:latin typeface="Aptos"/>
              </a:rPr>
              <a:t>Aptos Display Bold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2377440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C2733"/>
                </a:solidFill>
                <a:latin typeface="Aptos"/>
              </a:rPr>
              <a:t>40 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2834640"/>
            <a:ext cx="5577840" cy="10972"/>
          </a:xfrm>
          <a:prstGeom prst="rect">
            <a:avLst/>
          </a:prstGeom>
          <a:solidFill>
            <a:srgbClr val="CAD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2912364"/>
            <a:ext cx="3063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Aptos"/>
              </a:rPr>
              <a:t>H2 · Section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912364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07386"/>
                </a:solidFill>
                <a:latin typeface="Aptos"/>
              </a:rPr>
              <a:t>Aptos Display Bold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2912364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C2733"/>
                </a:solidFill>
                <a:latin typeface="Aptos"/>
              </a:rPr>
              <a:t>24 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3369564"/>
            <a:ext cx="5577840" cy="10972"/>
          </a:xfrm>
          <a:prstGeom prst="rect">
            <a:avLst/>
          </a:prstGeom>
          <a:solidFill>
            <a:srgbClr val="CAD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3447288"/>
            <a:ext cx="3063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Aptos"/>
              </a:rPr>
              <a:t>Label / kicker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447288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07386"/>
                </a:solidFill>
                <a:latin typeface="Aptos"/>
              </a:rPr>
              <a:t>Aptos Bold Caps, tracked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3447288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C2733"/>
                </a:solidFill>
                <a:latin typeface="Aptos"/>
              </a:rPr>
              <a:t>11–13 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3904487"/>
            <a:ext cx="5577840" cy="10972"/>
          </a:xfrm>
          <a:prstGeom prst="rect">
            <a:avLst/>
          </a:prstGeom>
          <a:solidFill>
            <a:srgbClr val="CAD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3982212"/>
            <a:ext cx="3063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Aptos"/>
              </a:rPr>
              <a:t>Body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982212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07386"/>
                </a:solidFill>
                <a:latin typeface="Aptos"/>
              </a:rPr>
              <a:t>Aptos Regular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3982212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C2733"/>
                </a:solidFill>
                <a:latin typeface="Aptos"/>
              </a:rPr>
              <a:t>15–18 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4439412"/>
            <a:ext cx="5577840" cy="10972"/>
          </a:xfrm>
          <a:prstGeom prst="rect">
            <a:avLst/>
          </a:prstGeom>
          <a:solidFill>
            <a:srgbClr val="CAD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4517136"/>
            <a:ext cx="3063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Aptos"/>
              </a:rPr>
              <a:t>Caption / footer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517136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07386"/>
                </a:solidFill>
                <a:latin typeface="Aptos"/>
              </a:rPr>
              <a:t>Aptos Bold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4517136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C2733"/>
                </a:solidFill>
                <a:latin typeface="Aptos"/>
              </a:rPr>
              <a:t>8–10 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4974336"/>
            <a:ext cx="5577840" cy="10972"/>
          </a:xfrm>
          <a:prstGeom prst="rect">
            <a:avLst/>
          </a:prstGeom>
          <a:solidFill>
            <a:srgbClr val="CAD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5052060"/>
            <a:ext cx="3063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Aptos"/>
              </a:rPr>
              <a:t>Pull-quote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052060"/>
            <a:ext cx="20116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07386"/>
                </a:solidFill>
                <a:latin typeface="Aptos"/>
              </a:rPr>
              <a:t>Georgia Italic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5052060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1C2733"/>
                </a:solidFill>
                <a:latin typeface="Aptos"/>
              </a:rPr>
              <a:t>28–36 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97880" y="5509260"/>
            <a:ext cx="5577840" cy="10972"/>
          </a:xfrm>
          <a:prstGeom prst="rect">
            <a:avLst/>
          </a:prstGeom>
          <a:solidFill>
            <a:srgbClr val="CAD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97880" y="5632704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607386"/>
                </a:solidFill>
                <a:latin typeface="Aptos"/>
              </a:rPr>
              <a:t>Fallbacks: if Aptos is unavailable use Segoe UI, then Calibri. Georgia → any serif.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55664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607386"/>
                </a:solidFill>
                <a:latin typeface="Aptos"/>
              </a:rPr>
              <a:t>BRAND GUIDELINES  •  CONTOSO LIMITED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19088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738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411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657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17324D"/>
                </a:solidFill>
                <a:latin typeface="Aptos"/>
              </a:rPr>
              <a:t>CONTOSO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00A6A6"/>
                </a:solidFill>
                <a:latin typeface="Aptos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324D"/>
                </a:solidFill>
                <a:latin typeface="Aptos Display"/>
              </a:rPr>
              <a:t>Graphic elements &amp; motifs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352044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468880"/>
            <a:ext cx="731520" cy="731520"/>
          </a:xfrm>
          <a:prstGeom prst="ellipse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1874519" y="2468880"/>
            <a:ext cx="731520" cy="73152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24688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0" y="2468880"/>
            <a:ext cx="731520" cy="73152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4688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7324D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324D"/>
                </a:solidFill>
                <a:latin typeface="Aptos"/>
              </a:rPr>
              <a:t>Numbered circles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07386"/>
                </a:solidFill>
                <a:latin typeface="Aptos"/>
              </a:rPr>
              <a:t>Steps, pillars and stages ride in solid discs, cycling navy → teal → amber. Bold number inside, caps label beneath.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965960"/>
            <a:ext cx="352044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36007" y="237744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3368" y="2377440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35661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324D"/>
                </a:solidFill>
                <a:latin typeface="Aptos"/>
              </a:rPr>
              <a:t>Split panels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393192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07386"/>
                </a:solidFill>
                <a:latin typeface="Aptos"/>
              </a:rPr>
              <a:t>Openers and dividers pair a navy content field with a teal accent panel carrying geometric circles.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6" y="1965960"/>
            <a:ext cx="352044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210312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0" b="1" i="0">
                <a:solidFill>
                  <a:srgbClr val="F4B942"/>
                </a:solidFill>
                <a:latin typeface="Georgia"/>
              </a:rPr>
              <a:t>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3566160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7324D"/>
                </a:solidFill>
                <a:latin typeface="Aptos"/>
              </a:rPr>
              <a:t>Quotation 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393192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07386"/>
                </a:solidFill>
                <a:latin typeface="Aptos"/>
              </a:rPr>
              <a:t>An oversized amber quote mark flags testimonials. Pair with generous whitespace — let one idea own the slide.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607386"/>
                </a:solidFill>
                <a:latin typeface="Aptos"/>
              </a:rPr>
              <a:t>BRAND GUIDELINES  •  CONTOSO LIMITED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19088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7386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411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657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17324D"/>
                </a:solidFill>
                <a:latin typeface="Aptos"/>
              </a:rPr>
              <a:t>CONTOSO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00A6A6"/>
                </a:solidFill>
                <a:latin typeface="Aptos"/>
              </a:rPr>
              <a:t>STYLE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324D"/>
                </a:solidFill>
                <a:latin typeface="Aptos Display"/>
              </a:rPr>
              <a:t>Iconography &amp; imagery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5349240" cy="3703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00A6A6"/>
                </a:solidFill>
                <a:latin typeface="Aptos"/>
              </a:rPr>
              <a:t>ICONOGRAPHY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606040"/>
            <a:ext cx="731520" cy="731520"/>
          </a:xfrm>
          <a:prstGeom prst="ellipse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△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0" y="2606040"/>
            <a:ext cx="731520" cy="73152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6060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"/>
              </a:rPr>
              <a:t>◉</a:t>
            </a:r>
          </a:p>
        </p:txBody>
      </p:sp>
      <p:sp>
        <p:nvSpPr>
          <p:cNvPr id="14" name="Oval 13"/>
          <p:cNvSpPr/>
          <p:nvPr/>
        </p:nvSpPr>
        <p:spPr>
          <a:xfrm>
            <a:off x="2743200" y="2606040"/>
            <a:ext cx="731520" cy="73152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60604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7324D"/>
                </a:solidFill>
                <a:latin typeface="Aptos"/>
              </a:rPr>
              <a:t>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47548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C2733"/>
                </a:solidFill>
                <a:latin typeface="Aptos"/>
              </a:rPr>
              <a:t>Single-weight, geometric line icons with rounded ends.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50" b="0" i="0">
                <a:solidFill>
                  <a:srgbClr val="1C2733"/>
                </a:solidFill>
                <a:latin typeface="Aptos"/>
              </a:rPr>
              <a:t>Housed in a solid navy, teal or amber disc.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50" b="0" i="0">
                <a:solidFill>
                  <a:srgbClr val="1C2733"/>
                </a:solidFill>
                <a:latin typeface="Aptos"/>
              </a:rPr>
              <a:t>One idea per icon — no gradients, no detail clutter.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350" b="0" i="0">
                <a:solidFill>
                  <a:srgbClr val="1C2733"/>
                </a:solidFill>
                <a:latin typeface="Aptos"/>
              </a:rPr>
              <a:t>Monochrome fill; never mix palette colours inside one icon.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65960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00A6A6"/>
                </a:solidFill>
                <a:latin typeface="Aptos"/>
              </a:rPr>
              <a:t>PHOTOGRAPHY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286000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C2733"/>
                </a:solidFill>
                <a:latin typeface="Aptos"/>
              </a:rPr>
              <a:t>Authentic people at work in natural light. Uncluttered, real, and calm — cool neutral tones that sit beside navy and teal.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246120"/>
            <a:ext cx="2606040" cy="2377440"/>
          </a:xfrm>
          <a:prstGeom prst="roundRect">
            <a:avLst>
              <a:gd name="adj" fmla="val 5000"/>
            </a:avLst>
          </a:prstGeom>
          <a:solidFill>
            <a:srgbClr val="EA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4290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00A6A6"/>
                </a:solidFill>
                <a:latin typeface="Aptos"/>
              </a:rPr>
              <a:t>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39"/>
            <a:ext cx="21945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C2733"/>
                </a:solidFill>
                <a:latin typeface="Aptos"/>
              </a:rPr>
              <a:t>Real workplaces &amp; people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0" i="0">
                <a:solidFill>
                  <a:srgbClr val="1C2733"/>
                </a:solidFill>
                <a:latin typeface="Aptos"/>
              </a:rPr>
              <a:t>Natural, bright light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0" i="0">
                <a:solidFill>
                  <a:srgbClr val="1C2733"/>
                </a:solidFill>
                <a:latin typeface="Aptos"/>
              </a:rPr>
              <a:t>Generous negative space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0" i="0">
                <a:solidFill>
                  <a:srgbClr val="1C2733"/>
                </a:solidFill>
                <a:latin typeface="Aptos"/>
              </a:rPr>
              <a:t>Candid, not posed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3246120"/>
            <a:ext cx="2606040" cy="2377440"/>
          </a:xfrm>
          <a:prstGeom prst="roundRect">
            <a:avLst>
              <a:gd name="adj" fmla="val 5000"/>
            </a:avLst>
          </a:prstGeom>
          <a:solidFill>
            <a:srgbClr val="F7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34290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C0504D"/>
                </a:solidFill>
                <a:latin typeface="Aptos"/>
              </a:rPr>
              <a:t>DON’T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749039"/>
            <a:ext cx="21945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C2733"/>
                </a:solidFill>
                <a:latin typeface="Aptos"/>
              </a:rPr>
              <a:t>Heavy filters or tints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0" i="0">
                <a:solidFill>
                  <a:srgbClr val="1C2733"/>
                </a:solidFill>
                <a:latin typeface="Aptos"/>
              </a:rPr>
              <a:t>Busy backgrounds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0" i="0">
                <a:solidFill>
                  <a:srgbClr val="1C2733"/>
                </a:solidFill>
                <a:latin typeface="Aptos"/>
              </a:rPr>
              <a:t>Clichéd stock metaphors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0" i="0">
                <a:solidFill>
                  <a:srgbClr val="1C2733"/>
                </a:solidFill>
                <a:latin typeface="Aptos"/>
              </a:rPr>
              <a:t>Low-resolution images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607386"/>
                </a:solidFill>
                <a:latin typeface="Aptos"/>
              </a:rPr>
              <a:t>BRAND GUIDELINES  •  CONTOSO LIMITED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19088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7386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411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657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17324D"/>
                </a:solidFill>
                <a:latin typeface="Aptos"/>
              </a:rPr>
              <a:t>CONTOSO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00A6A6"/>
                </a:solidFill>
                <a:latin typeface="Aptos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324D"/>
                </a:solidFill>
                <a:latin typeface="Aptos Display"/>
              </a:rPr>
              <a:t>Data visualisation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53492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4069079"/>
            <a:ext cx="777240" cy="1280160"/>
          </a:xfrm>
          <a:prstGeom prst="roundRect">
            <a:avLst>
              <a:gd name="adj" fmla="val 12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394959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607386"/>
                </a:solidFill>
                <a:latin typeface="Aptos"/>
              </a:rPr>
              <a:t>FY22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2971799"/>
            <a:ext cx="777240" cy="2377440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5394959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607386"/>
                </a:solidFill>
                <a:latin typeface="Aptos"/>
              </a:rPr>
              <a:t>FY23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520439"/>
            <a:ext cx="777240" cy="1828800"/>
          </a:xfrm>
          <a:prstGeom prst="roundRect">
            <a:avLst>
              <a:gd name="adj" fmla="val 12000"/>
            </a:avLst>
          </a:prstGeom>
          <a:solidFill>
            <a:srgbClr val="6073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5394959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607386"/>
                </a:solidFill>
                <a:latin typeface="Aptos"/>
              </a:rPr>
              <a:t>FY24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514599"/>
            <a:ext cx="777240" cy="2834640"/>
          </a:xfrm>
          <a:prstGeom prst="roundRect">
            <a:avLst>
              <a:gd name="adj" fmla="val 12000"/>
            </a:avLst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5394959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607386"/>
                </a:solidFill>
                <a:latin typeface="Aptos"/>
              </a:rPr>
              <a:t>FY25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5349240"/>
            <a:ext cx="4709160" cy="13716"/>
          </a:xfrm>
          <a:prstGeom prst="rect">
            <a:avLst/>
          </a:prstGeom>
          <a:solidFill>
            <a:srgbClr val="CAD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1945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7324D"/>
                </a:solidFill>
                <a:latin typeface="Aptos"/>
              </a:rPr>
              <a:t>Categorical colour order</a:t>
            </a:r>
          </a:p>
        </p:txBody>
      </p:sp>
      <p:sp>
        <p:nvSpPr>
          <p:cNvPr id="19" name="Oval 18"/>
          <p:cNvSpPr/>
          <p:nvPr/>
        </p:nvSpPr>
        <p:spPr>
          <a:xfrm>
            <a:off x="6172200" y="2029968"/>
            <a:ext cx="292608" cy="29260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0299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0116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Aptos"/>
              </a:rPr>
              <a:t>Colour order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304288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07386"/>
                </a:solidFill>
                <a:latin typeface="Aptos"/>
              </a:rPr>
              <a:t>Navy → Teal → Slate → Amber. Reserve amber to spotlight the one series that matters.</a:t>
            </a:r>
          </a:p>
        </p:txBody>
      </p:sp>
      <p:sp>
        <p:nvSpPr>
          <p:cNvPr id="23" name="Oval 22"/>
          <p:cNvSpPr/>
          <p:nvPr/>
        </p:nvSpPr>
        <p:spPr>
          <a:xfrm>
            <a:off x="6172200" y="2944368"/>
            <a:ext cx="292608" cy="29260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29443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9260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Aptos"/>
              </a:rPr>
              <a:t>Keep it flat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218688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07386"/>
                </a:solidFill>
                <a:latin typeface="Aptos"/>
              </a:rPr>
              <a:t>No 3D, no heavy gridlines. Use a single light divider line (#CAD7E3).</a:t>
            </a:r>
          </a:p>
        </p:txBody>
      </p:sp>
      <p:sp>
        <p:nvSpPr>
          <p:cNvPr id="27" name="Oval 26"/>
          <p:cNvSpPr/>
          <p:nvPr/>
        </p:nvSpPr>
        <p:spPr>
          <a:xfrm>
            <a:off x="6172200" y="3858768"/>
            <a:ext cx="292608" cy="29260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38587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8404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Aptos"/>
              </a:rPr>
              <a:t>Label directly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133088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07386"/>
                </a:solidFill>
                <a:latin typeface="Aptos"/>
              </a:rPr>
              <a:t>Put values on or beside the data. Drop legends where a direct label will do.</a:t>
            </a:r>
          </a:p>
        </p:txBody>
      </p:sp>
      <p:sp>
        <p:nvSpPr>
          <p:cNvPr id="31" name="Oval 30"/>
          <p:cNvSpPr/>
          <p:nvPr/>
        </p:nvSpPr>
        <p:spPr>
          <a:xfrm>
            <a:off x="6172200" y="4773168"/>
            <a:ext cx="292608" cy="292608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47731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7548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7324D"/>
                </a:solidFill>
                <a:latin typeface="Aptos"/>
              </a:rPr>
              <a:t>Cite the 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47488"/>
            <a:ext cx="5120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07386"/>
                </a:solidFill>
                <a:latin typeface="Aptos"/>
              </a:rPr>
              <a:t>Every chart carries a source line in the footer. Round numbers for readability.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55664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607386"/>
                </a:solidFill>
                <a:latin typeface="Aptos"/>
              </a:rPr>
              <a:t>BRAND GUIDELINES  •  CONTOSO LIMITED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19088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7386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411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657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FFFFFF"/>
                </a:solidFill>
                <a:latin typeface="Aptos"/>
              </a:rPr>
              <a:t>CONTOSO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F4B942"/>
                </a:solidFill>
                <a:latin typeface="Aptos"/>
              </a:rPr>
              <a:t>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Voice &amp; tone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2670048" cy="3703320"/>
          </a:xfrm>
          <a:prstGeom prst="roundRect">
            <a:avLst>
              <a:gd name="adj" fmla="val 5000"/>
            </a:avLst>
          </a:prstGeom>
          <a:solidFill>
            <a:srgbClr val="20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240279"/>
            <a:ext cx="457200" cy="45720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402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7324D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40279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Display"/>
              </a:rPr>
              <a:t>Clear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21214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D7E1EA"/>
                </a:solidFill>
                <a:latin typeface="Aptos"/>
              </a:rPr>
              <a:t>Plain words, short sentences, no jargon.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49039"/>
            <a:ext cx="2121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00A6A6"/>
                </a:solidFill>
                <a:latin typeface="Aptos"/>
              </a:rPr>
              <a:t>WE SAY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95928"/>
            <a:ext cx="21214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FFFFF"/>
                </a:solidFill>
                <a:latin typeface="Aptos"/>
              </a:rPr>
              <a:t>“Cuts onboarding to two weeks.”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79"/>
            <a:ext cx="2121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F4B942"/>
                </a:solidFill>
                <a:latin typeface="Aptos"/>
              </a:rPr>
              <a:t>WE DON’T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01768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1">
                <a:solidFill>
                  <a:srgbClr val="D7E1EA"/>
                </a:solidFill>
                <a:latin typeface="Aptos"/>
              </a:rPr>
              <a:t>“Leverages synergistic paradigms.”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965960"/>
            <a:ext cx="2670048" cy="3703320"/>
          </a:xfrm>
          <a:prstGeom prst="roundRect">
            <a:avLst>
              <a:gd name="adj" fmla="val 5000"/>
            </a:avLst>
          </a:prstGeom>
          <a:solidFill>
            <a:srgbClr val="20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03320" y="2240279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2402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7324D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240279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Display"/>
              </a:rPr>
              <a:t>Credible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880360"/>
            <a:ext cx="21214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D7E1EA"/>
                </a:solidFill>
                <a:latin typeface="Aptos"/>
              </a:rPr>
              <a:t>Evidence first — every claim backed by data or a source.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749039"/>
            <a:ext cx="2121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00A6A6"/>
                </a:solidFill>
                <a:latin typeface="Aptos"/>
              </a:rPr>
              <a:t>WE SAY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995928"/>
            <a:ext cx="21214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FFFFF"/>
                </a:solidFill>
                <a:latin typeface="Aptos"/>
              </a:rPr>
              <a:t>“Reduced tickets 32% (Q3 vs Q2).”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754879"/>
            <a:ext cx="2121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F4B942"/>
                </a:solidFill>
                <a:latin typeface="Aptos"/>
              </a:rPr>
              <a:t>WE DON’T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001768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1">
                <a:solidFill>
                  <a:srgbClr val="D7E1EA"/>
                </a:solidFill>
                <a:latin typeface="Aptos"/>
              </a:rPr>
              <a:t>“Massively reduces tickets.”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965960"/>
            <a:ext cx="2670048" cy="3703320"/>
          </a:xfrm>
          <a:prstGeom prst="roundRect">
            <a:avLst>
              <a:gd name="adj" fmla="val 5000"/>
            </a:avLst>
          </a:prstGeom>
          <a:solidFill>
            <a:srgbClr val="20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37960" y="2240279"/>
            <a:ext cx="457200" cy="45720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2402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7324D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240279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Display"/>
              </a:rPr>
              <a:t>Human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880360"/>
            <a:ext cx="21214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D7E1EA"/>
                </a:solidFill>
                <a:latin typeface="Aptos"/>
              </a:rPr>
              <a:t>Warm and direct. Talk to the reader.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749039"/>
            <a:ext cx="2121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00A6A6"/>
                </a:solidFill>
                <a:latin typeface="Aptos"/>
              </a:rPr>
              <a:t>WE SAY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995928"/>
            <a:ext cx="21214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FFFFF"/>
                </a:solidFill>
                <a:latin typeface="Aptos"/>
              </a:rPr>
              <a:t>“Here’s what changes for your team.”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754879"/>
            <a:ext cx="2121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F4B942"/>
                </a:solidFill>
                <a:latin typeface="Aptos"/>
              </a:rPr>
              <a:t>WE DON’T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001768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1">
                <a:solidFill>
                  <a:srgbClr val="D7E1EA"/>
                </a:solidFill>
                <a:latin typeface="Aptos"/>
              </a:rPr>
              <a:t>“The end-user shall observe changes.”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1965960"/>
            <a:ext cx="2670048" cy="3703320"/>
          </a:xfrm>
          <a:prstGeom prst="roundRect">
            <a:avLst>
              <a:gd name="adj" fmla="val 5000"/>
            </a:avLst>
          </a:prstGeom>
          <a:solidFill>
            <a:srgbClr val="20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372600" y="2240279"/>
            <a:ext cx="457200" cy="45720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22402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7324D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2240279"/>
            <a:ext cx="166420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Display"/>
              </a:rPr>
              <a:t>Responsible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880360"/>
            <a:ext cx="21214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D7E1EA"/>
                </a:solidFill>
                <a:latin typeface="Aptos"/>
              </a:rPr>
              <a:t>Honest about limits; never overpromise.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3749039"/>
            <a:ext cx="2121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00A6A6"/>
                </a:solidFill>
                <a:latin typeface="Aptos"/>
              </a:rPr>
              <a:t>WE SAY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3995928"/>
            <a:ext cx="212140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FFFFF"/>
                </a:solidFill>
                <a:latin typeface="Aptos"/>
              </a:rPr>
              <a:t>“Results will vary by environment.”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754879"/>
            <a:ext cx="21214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20">
                <a:solidFill>
                  <a:srgbClr val="F4B942"/>
                </a:solidFill>
                <a:latin typeface="Aptos"/>
              </a:rPr>
              <a:t>WE DON’T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5001768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1">
                <a:solidFill>
                  <a:srgbClr val="D7E1EA"/>
                </a:solidFill>
                <a:latin typeface="Aptos"/>
              </a:rPr>
              <a:t>“Guaranteed results, every time.”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55664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FFFFFF"/>
                </a:solidFill>
                <a:latin typeface="Aptos"/>
              </a:rPr>
              <a:t>BRAND GUIDELINES  •  CONTOSO LIMITED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419088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411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657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17324D"/>
                </a:solidFill>
                <a:latin typeface="Aptos"/>
              </a:rPr>
              <a:t>CONTOSO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00A6A6"/>
                </a:solidFill>
                <a:latin typeface="Aptos"/>
              </a:rPr>
              <a:t>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324D"/>
                </a:solidFill>
                <a:latin typeface="Aptos Display"/>
              </a:rPr>
              <a:t>Messaging &amp; boilerplate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10927080" cy="1234440"/>
          </a:xfrm>
          <a:prstGeom prst="roundRect">
            <a:avLst>
              <a:gd name="adj" fmla="val 5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1024128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 Display"/>
              </a:rPr>
              <a:t>Build trust.  Prove value.  Scale responsibly.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614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60">
                <a:solidFill>
                  <a:srgbClr val="F4B942"/>
                </a:solidFill>
                <a:latin typeface="Aptos"/>
              </a:rPr>
              <a:t>THE TAGLINE — USE VERBATIM, IN THIS ORDER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429000"/>
            <a:ext cx="82296" cy="71323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00A6A6"/>
                </a:solidFill>
                <a:latin typeface="Aptos"/>
              </a:rPr>
              <a:t>ELEVATOR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429000"/>
            <a:ext cx="81838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2733"/>
                </a:solidFill>
                <a:latin typeface="Aptos"/>
              </a:rPr>
              <a:t>Contoso Limited helps enterprises adopt new technology with confidence — pairing hands-on delivery with the evidence leaders need to scale.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233672"/>
            <a:ext cx="82296" cy="71323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33672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00A6A6"/>
                </a:solidFill>
                <a:latin typeface="Aptos"/>
              </a:rPr>
              <a:t>BOILERPLATE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233672"/>
            <a:ext cx="81838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2733"/>
                </a:solidFill>
                <a:latin typeface="Aptos"/>
              </a:rPr>
              <a:t>Contoso Limited is a synthetic demonstration brand used to showcase enterprise solution storytelling. It stands for building trust, proving value, and scaling responsibly. [Replace with the real organisation boilerplate.]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038344"/>
            <a:ext cx="82296" cy="713232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38344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 spc="120">
                <a:solidFill>
                  <a:srgbClr val="00A6A6"/>
                </a:solidFill>
                <a:latin typeface="Aptos"/>
              </a:rPr>
              <a:t>NAMING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5038344"/>
            <a:ext cx="818387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C2733"/>
                </a:solidFill>
                <a:latin typeface="Aptos"/>
              </a:rPr>
              <a:t>Write “Contoso Limited” on first mention; “Contoso” thereafter. Never “Contoso Ltd.” in body copy.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607386"/>
                </a:solidFill>
                <a:latin typeface="Aptos"/>
              </a:rPr>
              <a:t>BRAND GUIDELINES  •  CONTOSO LIMITED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7386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29768"/>
            <a:ext cx="411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657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17324D"/>
                </a:solidFill>
                <a:latin typeface="Aptos"/>
              </a:rPr>
              <a:t>CONTOSO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00A6A6"/>
                </a:solidFill>
                <a:latin typeface="Aptos"/>
              </a:rPr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10607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7324D"/>
                </a:solidFill>
                <a:latin typeface="Aptos Display"/>
              </a:rPr>
              <a:t>Layout &amp; spacing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5486400" cy="3566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240">
            <a:solidFill>
              <a:srgbClr val="CAD7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4846320" cy="3017520"/>
          </a:xfrm>
          <a:prstGeom prst="rect">
            <a:avLst/>
          </a:prstGeom>
          <a:noFill/>
          <a:ln w="12700">
            <a:solidFill>
              <a:srgbClr val="F4B9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468880"/>
            <a:ext cx="274320" cy="274320"/>
          </a:xfrm>
          <a:prstGeom prst="ellipse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17320" y="2523744"/>
            <a:ext cx="1188720" cy="164592"/>
          </a:xfrm>
          <a:prstGeom prst="rect">
            <a:avLst/>
          </a:prstGeom>
          <a:solidFill>
            <a:srgbClr val="CAD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3063240"/>
            <a:ext cx="3108960" cy="29260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3474720"/>
            <a:ext cx="2011680" cy="164592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5074920"/>
            <a:ext cx="1828800" cy="146304"/>
          </a:xfrm>
          <a:prstGeom prst="rect">
            <a:avLst/>
          </a:prstGeom>
          <a:solidFill>
            <a:srgbClr val="CAD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6360" y="5074920"/>
            <a:ext cx="457200" cy="146304"/>
          </a:xfrm>
          <a:prstGeom prst="rect">
            <a:avLst/>
          </a:prstGeom>
          <a:solidFill>
            <a:srgbClr val="CAD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2355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07386"/>
                </a:solidFill>
                <a:latin typeface="Aptos"/>
              </a:rPr>
              <a:t>Amber outline = safe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20">
                <a:solidFill>
                  <a:srgbClr val="00A6A6"/>
                </a:solidFill>
                <a:latin typeface="Aptos"/>
              </a:rPr>
              <a:t>CANVAS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6771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C2733"/>
                </a:solidFill>
                <a:latin typeface="Aptos"/>
              </a:rPr>
              <a:t>16:9 widescreen — 13.33 in × 7.5 in (33.87 × 19.05 cm).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1061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20">
                <a:solidFill>
                  <a:srgbClr val="00A6A6"/>
                </a:solidFill>
                <a:latin typeface="Aptos"/>
              </a:rPr>
              <a:t>SAFE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6664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C2733"/>
                </a:solidFill>
                <a:latin typeface="Aptos"/>
              </a:rPr>
              <a:t>Keep content 0.55 in from every edge. Nothing critical outside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0954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20">
                <a:solidFill>
                  <a:srgbClr val="00A6A6"/>
                </a:solidFill>
                <a:latin typeface="Aptos"/>
              </a:rPr>
              <a:t>LOGO LOCKUP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46557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C2733"/>
                </a:solidFill>
                <a:latin typeface="Aptos"/>
              </a:rPr>
              <a:t>Top-left, anchored at 0.55 in / 0.38 in on every slide.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80847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20">
                <a:solidFill>
                  <a:srgbClr val="00A6A6"/>
                </a:solidFill>
                <a:latin typeface="Aptos"/>
              </a:rPr>
              <a:t>TITLE ZONE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06450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C2733"/>
                </a:solidFill>
                <a:latin typeface="Aptos"/>
              </a:rPr>
              <a:t>Left-aligned from 0.65 in, baseline near 1.1 in from the top.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07408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20">
                <a:solidFill>
                  <a:srgbClr val="00A6A6"/>
                </a:solidFill>
                <a:latin typeface="Aptos"/>
              </a:rPr>
              <a:t>FOOTER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66344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C2733"/>
                </a:solidFill>
                <a:latin typeface="Aptos"/>
              </a:rPr>
              <a:t>Section tag bottom-left; two-digit page number bottom-right.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0634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120">
                <a:solidFill>
                  <a:srgbClr val="00A6A6"/>
                </a:solidFill>
                <a:latin typeface="Aptos"/>
              </a:rPr>
              <a:t>GRID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26237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C2733"/>
                </a:solidFill>
                <a:latin typeface="Aptos"/>
              </a:rPr>
              <a:t>Think in a 12-column grid with ~0.2 in gutters; align to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55664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607386"/>
                </a:solidFill>
                <a:latin typeface="Aptos"/>
              </a:rPr>
              <a:t>BRAND GUIDELINES  •  CONTOSO LIMITED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19088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607386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32520" y="-54864"/>
            <a:ext cx="3566160" cy="70408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1371600"/>
            <a:ext cx="1234440" cy="123444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42062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347472"/>
            <a:ext cx="411480" cy="411480"/>
          </a:xfrm>
          <a:prstGeom prst="ellipse">
            <a:avLst/>
          </a:prstGeom>
          <a:solidFill>
            <a:srgbClr val="F4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29768"/>
            <a:ext cx="411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7324D"/>
                </a:solidFill>
                <a:latin typeface="Aptos"/>
              </a:rPr>
              <a:t>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657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 spc="120">
                <a:solidFill>
                  <a:srgbClr val="FFFFFF"/>
                </a:solidFill>
                <a:latin typeface="Aptos"/>
              </a:rPr>
              <a:t>CONTOSO 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F4B942"/>
                </a:solidFill>
                <a:latin typeface="Aptos"/>
              </a:rPr>
              <a:t>STEWARDSHIP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Keeping the brand consistent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54680"/>
            <a:ext cx="2788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00A6A6"/>
                </a:solidFill>
                <a:latin typeface="Aptos"/>
              </a:rPr>
              <a:t>BRAND STEWARD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154680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ptos"/>
              </a:rPr>
              <a:t>[Add owner name &amp; role]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721608"/>
            <a:ext cx="7543800" cy="10972"/>
          </a:xfrm>
          <a:prstGeom prst="rect">
            <a:avLst/>
          </a:prstGeom>
          <a:solidFill>
            <a:srgbClr val="2A4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67912"/>
            <a:ext cx="2788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00A6A6"/>
                </a:solidFill>
                <a:latin typeface="Aptos"/>
              </a:rPr>
              <a:t>QUESTIONS &amp; APPROVALS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867912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ptos"/>
              </a:rPr>
              <a:t>[brand@contoso.example — add real contact]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434840"/>
            <a:ext cx="7543800" cy="10972"/>
          </a:xfrm>
          <a:prstGeom prst="rect">
            <a:avLst/>
          </a:prstGeom>
          <a:solidFill>
            <a:srgbClr val="2A4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581144"/>
            <a:ext cx="2788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00A6A6"/>
                </a:solidFill>
                <a:latin typeface="Aptos"/>
              </a:rPr>
              <a:t>ASSET 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581144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ptos"/>
              </a:rPr>
              <a:t>[Add link to the shared logo / template / image library]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148072"/>
            <a:ext cx="7543800" cy="10972"/>
          </a:xfrm>
          <a:prstGeom prst="rect">
            <a:avLst/>
          </a:prstGeom>
          <a:solidFill>
            <a:srgbClr val="2A4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294376"/>
            <a:ext cx="2788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00A6A6"/>
                </a:solidFill>
                <a:latin typeface="Aptos"/>
              </a:rPr>
              <a:t>BEFORE YOU PUBLISH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5294376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FFFFFF"/>
                </a:solidFill>
                <a:latin typeface="Aptos"/>
              </a:rPr>
              <a:t>New slides on-brand? Check logo, palette, type, voice.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861304"/>
            <a:ext cx="7543800" cy="10972"/>
          </a:xfrm>
          <a:prstGeom prst="rect">
            <a:avLst/>
          </a:prstGeom>
          <a:solidFill>
            <a:srgbClr val="2A4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17220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F4B942"/>
                </a:solidFill>
                <a:latin typeface="Aptos"/>
              </a:rPr>
              <a:t>BUILD TRUST.  PROVE VALUE.  SCALE RESPONSIBLY.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80">
                <a:solidFill>
                  <a:srgbClr val="FFFFFF"/>
                </a:solidFill>
                <a:latin typeface="Aptos"/>
              </a:rPr>
              <a:t>BRAND GUIDELINES  •  CONTOSO LIMITED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19088"/>
            <a:ext cx="777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Contoso Limited Case Study Template</dc:title>
  <dc:subject>Synthetic case-study template</dc:subject>
  <dc:creator>Contoso Limited</dc:creator>
  <cp:keywords>synthetic,case-study,template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